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embedTrueType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1" r:id="rId10"/>
    <p:sldId id="262" r:id="rId11"/>
    <p:sldId id="263" r:id="rId12"/>
    <p:sldId id="266" r:id="rId15"/>
    <p:sldId id="269" r:id="rId18"/>
    <p:sldId id="270" r:id="rId19"/>
    <p:sldId id="271" r:id="rId20"/>
  </p:sldIdLst>
  <p:sldSz cy="6858000" cx="12192000"/>
  <p:notesSz cx="6858000" cy="12192000"/>
  <p:embeddedFontLst>
    <p:embeddedFont>
      <p:font typeface="Pretendard" panose="02000503000000020004" pitchFamily="2" charset="-127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font" Target="fonts/font3.fntdata"/><Relationship Id="rId22" Type="http://schemas.openxmlformats.org/officeDocument/2006/relationships/font" Target="fonts/font4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조직건강도 설문 결과를 부서장이 스스로 해석하고 구성원과의 대화 주제를 찾도록 돕는 웹 애플리케이션을 설계·구현한 프로젝트입니다.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한 장 요약. 무엇을 왜 만들었고, 어떤 원칙을 지켰는지.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이 6가지는 기획 문서(06_guardrails.md)에 정의되어 있으며, 이후 모든 구현 판단의 기준이 되었습니다.</a:t>
            </a:r>
            <a:endParaRPr/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원칙 → 데이터 → 화면 순서. 화면을 두 번 만든 것은 낭비가 아니라 검증 단계였습니다.</a:t>
            </a:r>
            <a:endParaRPr/>
          </a:p>
        </p:txBody>
      </p:sp>
      <p:sp>
        <p:nvSpPr>
          <p:cNvPr id="92" name="Google Shape;9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5단 구성. 요약에서 시작해 문항 근거까지 스크롤 한 번으로 내려갑니다.</a:t>
            </a:r>
            <a:endParaRPr/>
          </a:p>
        </p:txBody>
      </p:sp>
      <p:sp>
        <p:nvSpPr>
          <p:cNvPr id="164" name="Google Shape;16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질문 성격을 먼저 판별해 라우팅합니다. 키워드가 있다고 무조건 카드를 반복하지 않습니다.</a:t>
            </a:r>
            <a:endParaRPr/>
          </a:p>
        </p:txBody>
      </p:sp>
      <p:sp>
        <p:nvSpPr>
          <p:cNvPr id="196" name="Google Shape;19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HR 화면과 부서장 화면의 비교 허용 범위를 의도적으로 다르게 두었습니다.</a:t>
            </a:r>
            <a:endParaRPr/>
          </a:p>
        </p:txBody>
      </p:sp>
      <p:sp>
        <p:nvSpPr>
          <p:cNvPr id="229" name="Google Shape;22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실측 기반으로 원인을 찾고 고쳤다는 점이 핵심입니다.</a:t>
            </a:r>
            <a:endParaRPr/>
          </a:p>
        </p:txBody>
      </p:sp>
      <p:sp>
        <p:nvSpPr>
          <p:cNvPr id="325" name="Google Shape;32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" name="Google Shape;42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두 버전 모두 저장소에 남아 있고, 해석 사전 모듈은 공유합니다.</a:t>
            </a:r>
            <a:endParaRPr/>
          </a:p>
        </p:txBody>
      </p:sp>
      <p:sp>
        <p:nvSpPr>
          <p:cNvPr id="428" name="Google Shape;42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9" name="Google Shape;45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데모와 운영의 간극을 솔직하게 정리했습니다.</a:t>
            </a:r>
            <a:endParaRPr/>
          </a:p>
        </p:txBody>
      </p:sp>
      <p:sp>
        <p:nvSpPr>
          <p:cNvPr id="460" name="Google Shape;460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6" name="Google Shape;49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설계 원칙 하나로 마무리합니다.</a:t>
            </a:r>
            <a:endParaRPr/>
          </a:p>
        </p:txBody>
      </p:sp>
      <p:sp>
        <p:nvSpPr>
          <p:cNvPr id="497" name="Google Shape;497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 dpi="0" rotWithShape="1">
          <a:blip r:embed="rId3">
            <a:alphaModFix amt="75000"/>
            <a:lum/>
          </a:blip>
          <a:srcRect/>
          <a:stretch>
            <a:fillRect/>
          </a:stretch>
        </a:blipFill>
        <a:effectLst/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49" y="387350"/>
            <a:ext cx="413608" cy="370530"/>
          </a:xfrm>
          <a:prstGeom prst="rect">
            <a:avLst/>
          </a:prstGeom>
        </p:spPr>
      </p:pic>
      <p:pic>
        <p:nvPicPr>
          <p:cNvPr id="17" name="Picture 16" descr="word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642" y="423571"/>
            <a:ext cx="1146560" cy="176907"/>
          </a:xfrm>
          <a:prstGeom prst="rect">
            <a:avLst/>
          </a:prstGeom>
        </p:spPr>
      </p:pic>
      <p:pic>
        <p:nvPicPr>
          <p:cNvPr id="18" name="Picture 17" descr="sub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913" y="619978"/>
            <a:ext cx="1146560" cy="1379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6043" y="1295183"/>
            <a:ext cx="9145588" cy="1883706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ko-KR" altLang="en-US" sz="4400" b="1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2026 조직건강도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lang="ko-KR" altLang="en-US" sz="4400" b="1" dirty="0">
                <a:solidFill>
                  <a:srgbClr val="00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AI Agent 개발 과제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043" y="3819993"/>
            <a:ext cx="6253163" cy="129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b="1" dirty="0">
                <a:solidFill>
                  <a:srgbClr val="0E284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사무계 / 포스코 / 곽경제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EXECUTIVE SUMMARY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 도구가 아닌, 대화를 여는 진단 리포트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566928" y="1371600"/>
            <a:ext cx="11057839" cy="1298448"/>
          </a:xfrm>
          <a:prstGeom prst="roundRect">
            <a:avLst>
              <a:gd fmla="val 5634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859536" y="1536192"/>
            <a:ext cx="10472623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962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0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설문 결과가 연도별 엑셀로만 존재해 부서장이 자기 조직 숫자를 해석하기 어려운 상태 → 그 엑셀을 부서장이 혼자서도 해석할 수 있는 웹 리포트로 전환하되, '평가에 쓰이지 않는다'는 원칙을 데이터 처리부터 문장 생성까지 일관되게 관철하는 것이 목표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566928" y="2889504"/>
            <a:ext cx="2517572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804672" y="3054096"/>
            <a:ext cx="2060372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04672" y="3877056"/>
            <a:ext cx="20603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 사용자 화면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804672" y="4169664"/>
            <a:ext cx="20603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리포트 · HR 관리자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3413684" y="2889504"/>
            <a:ext cx="2517572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3651428" y="3054096"/>
            <a:ext cx="2060372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3651428" y="3877056"/>
            <a:ext cx="20603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 구성 리포트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3651428" y="4169664"/>
            <a:ext cx="20603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요약→영역→문항→추이→AI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260440" y="2889504"/>
            <a:ext cx="2517572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498184" y="3054096"/>
            <a:ext cx="2060372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A950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00A950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498184" y="3877056"/>
            <a:ext cx="20603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 AI 라우팅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6498184" y="4169664"/>
            <a:ext cx="20603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 · 데이터근거 LLM · 웹검색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9107195" y="2889504"/>
            <a:ext cx="2517572" cy="1783080"/>
          </a:xfrm>
          <a:prstGeom prst="roundRect">
            <a:avLst>
              <a:gd fmla="val 410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9344939" y="3054096"/>
            <a:ext cx="2060372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912D"/>
              </a:buClr>
              <a:buSzPts val="4200"/>
              <a:buFont typeface="Malgun Gothic"/>
              <a:buNone/>
            </a:pPr>
            <a:r>
              <a:rPr b="1" i="0" lang="en-US" sz="4200" u="none" cap="none" strike="noStrike">
                <a:solidFill>
                  <a:srgbClr val="E8912D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9344939" y="3877056"/>
            <a:ext cx="20603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350"/>
              <a:buFont typeface="Malgun Gothic"/>
              <a:buNone/>
            </a:pPr>
            <a:r>
              <a:rPr b="1" i="0" lang="en-US" sz="13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 윤리 원칙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9344939" y="4169664"/>
            <a:ext cx="206037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강제한 가드레일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566928" y="4901184"/>
            <a:ext cx="11057839" cy="1207008"/>
          </a:xfrm>
          <a:prstGeom prst="roundRect">
            <a:avLst>
              <a:gd fmla="val 6061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859536" y="5065776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성과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2852928" y="5029200"/>
            <a:ext cx="8406079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 프로토타입으로 개념 검증 후 FastAPI + SQLite 웹앱으로 전환하는 단계적 접근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지침 변경(부서 간 비교 지양)을 해석 로직 전면 재설계로 반영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내년 2027년 시트가 추가되어도 코드 수정 없이 동작하도록 연도 구조 일반화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PROBLEM DEFINITION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숫자를 주는 것보다 오해를 막는 것이 더 어려운 과제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66928" y="1371600"/>
            <a:ext cx="5230368" cy="2148840"/>
          </a:xfrm>
          <a:prstGeom prst="roundRect">
            <a:avLst>
              <a:gd fmla="val 3404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841248" y="1609344"/>
            <a:ext cx="365760" cy="365760"/>
          </a:xfrm>
          <a:prstGeom prst="roundRect">
            <a:avLst>
              <a:gd fmla="val 2500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841248" y="160934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316736" y="1627632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 상황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877824" y="2103120"/>
            <a:ext cx="4626864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설문 결과가 연도별 엑셀 파일로만 존재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부서장은 자기 조직 숫자의 의미를 판단하기 어려움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잘못 쓰이면 조직장 평가·문책 도구가 될 위험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6053328" y="1371600"/>
            <a:ext cx="5568696" cy="2148840"/>
          </a:xfrm>
          <a:prstGeom prst="roundRect">
            <a:avLst>
              <a:gd fmla="val 3404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6327648" y="1609344"/>
            <a:ext cx="365760" cy="365760"/>
          </a:xfrm>
          <a:prstGeom prst="roundRect">
            <a:avLst>
              <a:gd fmla="val 25000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6327648" y="160934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6803136" y="1627632"/>
            <a:ext cx="2743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설계 방향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6364224" y="210312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— 본인 조직만 조회, 해석과 대화 주제 제공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 — Raw Data 관리와 전사 현황 점검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172033"/>
              </a:buClr>
              <a:buSzPts val="1250"/>
              <a:buFont typeface="Malgun Gothic"/>
              <a:buChar char="•"/>
            </a:pPr>
            <a:r>
              <a:rPr b="0" i="0" lang="en-US" sz="12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챗봇 도입으로 건강한 조직 운영을 위한 촉진자 배정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566928" y="3767328"/>
            <a:ext cx="11057839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50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강제해야 했던 6가지 제약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566928" y="4187952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786384" y="4315968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 미제공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786384" y="4590288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총점·지수 형태의 수치를 만들지 않음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4344314" y="4187952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4563770" y="4315968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등급·순위 미제공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4563770" y="4590288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A/B/C 등급이나 부서 순위를 표시하지 않음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8121701" y="4187952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8341157" y="4315968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 원문 미노출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8341157" y="4590288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주관식은 반복 경향만 요약해 제시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566928" y="5212080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5"/>
          <p:cNvSpPr/>
          <p:nvPr/>
        </p:nvSpPr>
        <p:spPr>
          <a:xfrm>
            <a:off x="786384" y="5340096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소수 응답 보호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786384" y="5614416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10명 미만 조직은 결과를 비공개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4344314" y="5212080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4563770" y="5340096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평가성 표현 금지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4563770" y="5614416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'문제가 있다', '실패했다' 류 문장 미사용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8121701" y="5212080"/>
            <a:ext cx="3503066" cy="896112"/>
          </a:xfrm>
          <a:prstGeom prst="roundRect">
            <a:avLst>
              <a:gd fmla="val 816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8341157" y="5340096"/>
            <a:ext cx="306415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250"/>
              <a:buFont typeface="Malgun Gothic"/>
              <a:buNone/>
            </a:pPr>
            <a:r>
              <a:rPr b="1" i="0" lang="en-US" sz="12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 간 비교 지양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8341157" y="5614416"/>
            <a:ext cx="306415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화면에서 타 부서·전사 평균과 비교하지 않음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6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APPROACH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원칙을 먼저 고정하고, 화면은 두 번 제작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566928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841248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841248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841248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원칙과 사전 정의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841248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 사전과 가드레일을 먼저 문서로 확정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841248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영역별 긍정·중립·부정 해석 문장 사전화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금지 표현 / 권장 표현 목록 작성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32개 → 중분류 14 → 대분류 2 매핑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4069994" y="3291840"/>
            <a:ext cx="237744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4380890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"/>
          <p:cNvSpPr/>
          <p:nvPr/>
        </p:nvSpPr>
        <p:spPr>
          <a:xfrm>
            <a:off x="4655210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4655210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4655210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파이프라인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4655210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엑셀을 분석 가능한 구조로 정규화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655210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연도별 시트 → long format 변환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5개 테이블 적재 (37,248건)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시 동일 파이프라인 재사용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7883957" y="3291840"/>
            <a:ext cx="237744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8194853" y="1463040"/>
            <a:ext cx="3429914" cy="3977640"/>
          </a:xfrm>
          <a:prstGeom prst="roundRect">
            <a:avLst>
              <a:gd fmla="val 2133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8469173" y="1719072"/>
            <a:ext cx="475488" cy="475488"/>
          </a:xfrm>
          <a:prstGeom prst="roundRect">
            <a:avLst>
              <a:gd fmla="val 19231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8469173" y="17190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8469173" y="2340864"/>
            <a:ext cx="288127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600"/>
              <a:buFont typeface="Malgun Gothic"/>
              <a:buNone/>
            </a:pPr>
            <a:r>
              <a:rPr b="1" i="0" lang="en-US" sz="16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화면과 AI 구현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8469173" y="2670048"/>
            <a:ext cx="288127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9130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 검증 후 웹앱으로 전환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8469173" y="3200400"/>
            <a:ext cx="288127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Streamlit으로 구성·문구 빠르게 검증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FastAPI + SQLite로 재구축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Char char="•"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3단 라우팅 챗봇과 리포트 내보내기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리포트 — 위에서 아래로 읽으면 근거까지 도달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2_report_hero.png" id="169" name="Google Shape;16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389888"/>
            <a:ext cx="6400800" cy="405079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/>
          <p:nvPr/>
        </p:nvSpPr>
        <p:spPr>
          <a:xfrm>
            <a:off x="566928" y="1389888"/>
            <a:ext cx="6400800" cy="4050792"/>
          </a:xfrm>
          <a:prstGeom prst="roundRect">
            <a:avLst>
              <a:gd fmla="val 903" name="adj"/>
            </a:avLst>
          </a:prstGeom>
          <a:noFill/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7260336" y="138988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7260336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7735824" y="137160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요약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7735824" y="162763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긍정·부정 Top3 영역과 주관식 경향, AI Executive Summary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7260336" y="221284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8"/>
          <p:cNvSpPr/>
          <p:nvPr/>
        </p:nvSpPr>
        <p:spPr>
          <a:xfrm>
            <a:off x="7260336" y="22128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7735824" y="219456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카테고리별 결과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7735824" y="245059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영역을 대분류 기준 좌우 분할로 동시 제시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7260336" y="303580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8"/>
          <p:cNvSpPr/>
          <p:nvPr/>
        </p:nvSpPr>
        <p:spPr>
          <a:xfrm>
            <a:off x="7260336" y="30358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7735824" y="301752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32개 문항 근거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7735824" y="327355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문항 원문을 제목으로, 중분류 필터·정렬 지원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7260336" y="385876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7260336" y="38587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7735824" y="384048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3개년 변화 분석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7735824" y="409651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긍정/중립/부정을 독립 축으로 확대해 미세 변화까지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7260336" y="468172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7260336" y="46817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7735824" y="4663440"/>
            <a:ext cx="388894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조직 운영 인사이트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7735824" y="4919472"/>
            <a:ext cx="3888943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관찰 신호, 대화 주제, 구성원 질문 예시, 챗봇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566928" y="5632704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859536" y="5797296"/>
            <a:ext cx="10472623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200"/>
              <a:buFont typeface="Malgun Gothic"/>
              <a:buNone/>
            </a:pPr>
            <a:r>
              <a:rPr b="0" i="0" lang="en-US" sz="12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어디에도 총점·등급·순위 없음 — 응답 비중(%)과 '어떤 대화를 해볼 수 있는지'만 남긴 것이 이 리포트의 설계 결론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9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챗봇 — 질문의 성격에 따라 세 </a:t>
            </a:r>
            <a:r>
              <a:rPr b="1" lang="en-US" sz="30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가지 방식으</a:t>
            </a: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 </a:t>
            </a:r>
            <a:r>
              <a:rPr b="1" lang="en-US" sz="3000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나누어 응답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566928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822960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00A95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822960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316736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4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로컬 규칙 응답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822960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9"/>
          <p:cNvSpPr/>
          <p:nvPr/>
        </p:nvSpPr>
        <p:spPr>
          <a:xfrm>
            <a:off x="822960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짧은 키워드 조회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822960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"가용자원"처럼 영역명만 물으면 DB 집계와 해석 사전으로 카드 즉시 생성 · 외부 호출 없음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4362602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4618634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4618634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5112410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4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근거 LLM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4618634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4618634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문장형 후속 질문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618634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"한정된 자원을 어떻게 조율할까?" 형태는 그 부서의 실제 수치를 컨텍스트로 넘겨 LLM이 직접 응답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8158277" y="1408176"/>
            <a:ext cx="3466490" cy="2212848"/>
          </a:xfrm>
          <a:prstGeom prst="roundRect">
            <a:avLst>
              <a:gd fmla="val 330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/>
          <p:nvPr/>
        </p:nvSpPr>
        <p:spPr>
          <a:xfrm>
            <a:off x="8414309" y="1645920"/>
            <a:ext cx="402336" cy="402336"/>
          </a:xfrm>
          <a:prstGeom prst="roundRect">
            <a:avLst>
              <a:gd fmla="val 22727" name="adj"/>
            </a:avLst>
          </a:prstGeom>
          <a:solidFill>
            <a:srgbClr val="E891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8414309" y="164592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8908085" y="1664208"/>
            <a:ext cx="246065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450"/>
              <a:buFont typeface="Malgun Gothic"/>
              <a:buNone/>
            </a:pPr>
            <a:r>
              <a:rPr b="1" i="0" lang="en-US" sz="145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웹검색 기반 답변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414309" y="2176272"/>
            <a:ext cx="2954426" cy="329184"/>
          </a:xfrm>
          <a:prstGeom prst="roundRect">
            <a:avLst>
              <a:gd fmla="val 44444" name="adj"/>
            </a:avLst>
          </a:prstGeom>
          <a:solidFill>
            <a:srgbClr val="E8F1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8414309" y="2176272"/>
            <a:ext cx="295442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50"/>
              <a:buFont typeface="Malgun Gothic"/>
              <a:buNone/>
            </a:pPr>
            <a:r>
              <a:rPr b="1" i="0" lang="en-US" sz="105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진단과 무관한 일반 질문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8414309" y="2615184"/>
            <a:ext cx="2954426" cy="8961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리더십 일반론은 Tavily 검색 결과를 근거로 요약하고 출처 링크를 함께 제시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566928" y="3803904"/>
            <a:ext cx="5120640" cy="1920240"/>
          </a:xfrm>
          <a:prstGeom prst="roundRect">
            <a:avLst>
              <a:gd fmla="val 3810" name="adj"/>
            </a:avLst>
          </a:prstGeom>
          <a:solidFill>
            <a:srgbClr val="FDEEF0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841248" y="3968496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4B5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C94B5F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추가 장치 — 개인 특정·징계성 요청 차단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841248" y="4297680"/>
            <a:ext cx="4572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454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"부정 응답한 직급 찾아서 혼내야겠다" 같은 요청은 세 갈래 어디로도 보내지 않고 즉시 거절 · 데이터가 익명 집계라 특정이 불가능함을 안내하고, 원인 상황을 보는 관점으로 전환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6_chatbot.png" id="225" name="Google Shape;22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176" y="3803904"/>
            <a:ext cx="5641848" cy="2331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FEATURE 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관리자 화면 — 비교가 목적인 화면은 별도 분리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:\Users\admin\Desktop\AI 활용 전문가\프로젝트과제\Org_health_diag\docs\shots\08_admin_compare.png" id="234" name="Google Shape;23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928" y="1389888"/>
            <a:ext cx="6766560" cy="428853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10"/>
          <p:cNvSpPr/>
          <p:nvPr/>
        </p:nvSpPr>
        <p:spPr>
          <a:xfrm>
            <a:off x="566928" y="1389888"/>
            <a:ext cx="6766560" cy="4288536"/>
          </a:xfrm>
          <a:prstGeom prst="roundRect">
            <a:avLst>
              <a:gd fmla="val 853" name="adj"/>
            </a:avLst>
          </a:prstGeom>
          <a:noFill/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/>
          <p:nvPr/>
        </p:nvSpPr>
        <p:spPr>
          <a:xfrm>
            <a:off x="7626096" y="138988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7626096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8101584" y="137160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Raw Data 업로드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8101584" y="164592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업로드 시 검증 후 DB 전체 교체, 실패 시 기존 데이터 유지 · 기본 더미 데이터 복원도 지원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7626096" y="248716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7626096" y="24871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8101584" y="246888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결과 비교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8101584" y="274320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전사 평균 대비 ±3.0%p 기준으로 우수/관심 필요 구분 · 점수·등급은 여기서도 미사용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7626096" y="358444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"/>
          <p:cNvSpPr/>
          <p:nvPr/>
        </p:nvSpPr>
        <p:spPr>
          <a:xfrm>
            <a:off x="7626096" y="35844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8101584" y="356616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연도별 변화 추이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8101584" y="384048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부서별 긍정 비중을 한 차트에 겹쳐 전사 흐름 파악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7626096" y="4681728"/>
            <a:ext cx="347472" cy="347472"/>
          </a:xfrm>
          <a:prstGeom prst="roundRect">
            <a:avLst>
              <a:gd fmla="val 26316" name="adj"/>
            </a:avLst>
          </a:prstGeom>
          <a:solidFill>
            <a:srgbClr val="0043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0"/>
          <p:cNvSpPr/>
          <p:nvPr/>
        </p:nvSpPr>
        <p:spPr>
          <a:xfrm>
            <a:off x="7626096" y="46817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8101584" y="4663440"/>
            <a:ext cx="352318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부서장 접근 이력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8101584" y="4937760"/>
            <a:ext cx="3523183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50"/>
              <a:buFont typeface="Malgun Gothic"/>
              <a:buNone/>
            </a:pPr>
            <a:r>
              <a:rPr b="0" i="0" lang="en-US" sz="105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로그인·챗봇·다운로드 이력 기록으로 감사 근거 확보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566928" y="5870448"/>
            <a:ext cx="11057839" cy="566928"/>
          </a:xfrm>
          <a:prstGeom prst="roundRect">
            <a:avLst>
              <a:gd fmla="val 12903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0"/>
          <p:cNvSpPr/>
          <p:nvPr/>
        </p:nvSpPr>
        <p:spPr>
          <a:xfrm>
            <a:off x="859536" y="5961888"/>
            <a:ext cx="10472623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부서 간 비교는 HR의 업무 목적이므로 이 화면에만 유지, 부서장 리포트에서는 전면 제거 — 같은 데이터라도 열람자에 따라 허용 범위를 다르게 설계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3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DETAIL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3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원칙·비교 기준·확장성을 코드 레벨에서 고정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3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566928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3"/>
          <p:cNvSpPr/>
          <p:nvPr/>
        </p:nvSpPr>
        <p:spPr>
          <a:xfrm>
            <a:off x="822960" y="1645920"/>
            <a:ext cx="384048" cy="384048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3"/>
          <p:cNvSpPr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822960" y="2139696"/>
            <a:ext cx="295442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원칙을 문서가 아니라 코드로 강제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3"/>
          <p:cNvSpPr/>
          <p:nvPr/>
        </p:nvSpPr>
        <p:spPr>
          <a:xfrm>
            <a:off x="822960" y="3017520"/>
            <a:ext cx="29544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코드로 고정한 6가지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3"/>
          <p:cNvSpPr/>
          <p:nvPr/>
        </p:nvSpPr>
        <p:spPr>
          <a:xfrm>
            <a:off x="822960" y="3310128"/>
            <a:ext cx="2954426" cy="20848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점수·등급·순위 필드 미생성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응답 10명 미만 조직 리포트 차단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주관식은 빈도 Top3만 집계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14개 영역 해석 문장 사전 고정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개인 특정·징계 요청 응답 거부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로그인·챗봇·다운로드 전량 로깅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4362602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3"/>
          <p:cNvSpPr/>
          <p:nvPr/>
        </p:nvSpPr>
        <p:spPr>
          <a:xfrm>
            <a:off x="4618634" y="1645920"/>
            <a:ext cx="384048" cy="384048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3"/>
          <p:cNvSpPr/>
          <p:nvPr/>
        </p:nvSpPr>
        <p:spPr>
          <a:xfrm>
            <a:off x="4618634" y="1645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/>
          <p:nvPr/>
        </p:nvSpPr>
        <p:spPr>
          <a:xfrm>
            <a:off x="4618634" y="2139696"/>
            <a:ext cx="295442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지침 한 줄 변경에 따른 해석 로직 재설계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3"/>
          <p:cNvSpPr/>
          <p:nvPr/>
        </p:nvSpPr>
        <p:spPr>
          <a:xfrm>
            <a:off x="4618634" y="3017520"/>
            <a:ext cx="29544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BEFORE → AFTER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3"/>
          <p:cNvSpPr/>
          <p:nvPr/>
        </p:nvSpPr>
        <p:spPr>
          <a:xfrm>
            <a:off x="4618634" y="3310128"/>
            <a:ext cx="2954426" cy="20848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HR 지침 : "부서 간 비교 지양"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BEFORE — 전사 평균 대비 +12.5%p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부서장이 순위 역산 가능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AFTER — 대분류 내 타 영역 대비 -14.9%p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비교 대상이 부서 내부에 한정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8158277" y="1408176"/>
            <a:ext cx="3466490" cy="4114800"/>
          </a:xfrm>
          <a:prstGeom prst="roundRect">
            <a:avLst>
              <a:gd fmla="val 2110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/>
          <p:nvPr/>
        </p:nvSpPr>
        <p:spPr>
          <a:xfrm>
            <a:off x="8414309" y="1645920"/>
            <a:ext cx="384048" cy="384048"/>
          </a:xfrm>
          <a:prstGeom prst="roundRect">
            <a:avLst>
              <a:gd fmla="val 23810" name="adj"/>
            </a:avLst>
          </a:prstGeom>
          <a:solidFill>
            <a:srgbClr val="C94B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414309" y="1645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8414309" y="2139696"/>
            <a:ext cx="2954426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740"/>
              </a:lnSpc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50"/>
              <a:buFont typeface="Malgun Gothic"/>
              <a:buNone/>
            </a:pPr>
            <a:r>
              <a:rPr b="1" i="0" lang="en-US" sz="15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내년에 코드를 열지 않아도 되는 구조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8414309" y="3017520"/>
            <a:ext cx="295442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 구조 일반화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3"/>
          <p:cNvSpPr/>
          <p:nvPr/>
        </p:nvSpPr>
        <p:spPr>
          <a:xfrm>
            <a:off x="8414309" y="3310128"/>
            <a:ext cx="2954426" cy="20848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연도 하드코딩 제거, 시트명에서 4자리 연도 자동 인식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 연도는 DB 적재 최신 연도를 매번 조회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2027 시트를 넣은 4개년 파일로 전 화면 자동 확장 실증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3"/>
          <p:cNvSpPr/>
          <p:nvPr/>
        </p:nvSpPr>
        <p:spPr>
          <a:xfrm>
            <a:off x="566928" y="5687568"/>
            <a:ext cx="11057839" cy="694944"/>
          </a:xfrm>
          <a:prstGeom prst="roundRect">
            <a:avLst>
              <a:gd fmla="val 1052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59536" y="5833872"/>
            <a:ext cx="10472623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50"/>
              <a:buFont typeface="Malgun Gothic"/>
              <a:buNone/>
            </a:pPr>
            <a:r>
              <a:rPr b="0" i="0" lang="en-US" sz="115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항목 모두 문서가 아닌 코드·스키마 레벨에서 고정 — 구조가 굳은 뒤에는 되돌리기 어렵다는 판단에 따라 선행 처리한 결정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6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TECH STACK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6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프로토타입에서 운영형 웹앱으로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6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6"/>
          <p:cNvSpPr/>
          <p:nvPr/>
        </p:nvSpPr>
        <p:spPr>
          <a:xfrm>
            <a:off x="566928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6"/>
          <p:cNvSpPr/>
          <p:nvPr/>
        </p:nvSpPr>
        <p:spPr>
          <a:xfrm>
            <a:off x="841248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프로토타입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6"/>
          <p:cNvSpPr/>
          <p:nvPr/>
        </p:nvSpPr>
        <p:spPr>
          <a:xfrm>
            <a:off x="841248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Streamlit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/>
          <p:nvPr/>
        </p:nvSpPr>
        <p:spPr>
          <a:xfrm>
            <a:off x="841248" y="2788920"/>
            <a:ext cx="291785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Python 단일 파일로 화면 구성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Plotly 차트 · st.session_state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엑셀 직접 로드 + 캐시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문구와 화면 구성 검증에 사용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6"/>
          <p:cNvSpPr/>
          <p:nvPr/>
        </p:nvSpPr>
        <p:spPr>
          <a:xfrm>
            <a:off x="4362602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16"/>
          <p:cNvSpPr/>
          <p:nvPr/>
        </p:nvSpPr>
        <p:spPr>
          <a:xfrm>
            <a:off x="4636922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4381"/>
              </a:buClr>
              <a:buSzPts val="10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43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운영형 웹앱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/>
          <p:nvPr/>
        </p:nvSpPr>
        <p:spPr>
          <a:xfrm>
            <a:off x="4636922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FastAPI + SQLite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6"/>
          <p:cNvSpPr/>
          <p:nvPr/>
        </p:nvSpPr>
        <p:spPr>
          <a:xfrm>
            <a:off x="4636922" y="2788920"/>
            <a:ext cx="291785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Jinja2 서버 렌더링 · 서명 쿠키 세션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Chart.js 로컬 번들 (오프라인 동작)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SQLite 5개 테이블 · 인덱스 기반 집계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업로드·세션·감사 로그까지 지원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8158277" y="1408176"/>
            <a:ext cx="3466490" cy="4480560"/>
          </a:xfrm>
          <a:prstGeom prst="roundRect">
            <a:avLst>
              <a:gd fmla="val 228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6"/>
          <p:cNvSpPr/>
          <p:nvPr/>
        </p:nvSpPr>
        <p:spPr>
          <a:xfrm>
            <a:off x="8432597" y="1737360"/>
            <a:ext cx="29178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0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계층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/>
          <p:nvPr/>
        </p:nvSpPr>
        <p:spPr>
          <a:xfrm>
            <a:off x="8432597" y="2084831"/>
            <a:ext cx="291785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800"/>
              <a:buFont typeface="Malgun Gothic"/>
              <a:buNone/>
            </a:pPr>
            <a:r>
              <a:rPr b="1" i="0" lang="en-US" sz="22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OpenAI + Tavily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6"/>
          <p:cNvSpPr/>
          <p:nvPr/>
        </p:nvSpPr>
        <p:spPr>
          <a:xfrm>
            <a:off x="8432597" y="2788920"/>
            <a:ext cx="291785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근거 답변 (진단 컨텍스트 주입)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웹검색 기반 일반 자문 + 출처 표기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Char char="•"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대화 요약 서브 에이전트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4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키가 없으면 규칙 기반으로 자동 폴백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B"/>
        </a:solidFill>
      </p:bgPr>
    </p:bg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7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NEXT STEPS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7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3000"/>
              <a:buFont typeface="Malgun Gothic"/>
              <a:buNone/>
            </a:pPr>
            <a:r>
              <a:rPr b="1" i="0" lang="en-US" sz="30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지금은 데모, 운영으로 가려면 남은 것들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7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000"/>
              <a:buFont typeface="Malgun Gothic"/>
              <a:buNone/>
            </a:pPr>
            <a:r>
              <a:rPr b="0" i="0" lang="en-US" sz="10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/>
          <p:nvPr/>
        </p:nvSpPr>
        <p:spPr>
          <a:xfrm>
            <a:off x="4224528" y="1426464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 (데모)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7"/>
          <p:cNvSpPr/>
          <p:nvPr/>
        </p:nvSpPr>
        <p:spPr>
          <a:xfrm>
            <a:off x="7790688" y="1426464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100"/>
              <a:buFont typeface="Malgun Gothic"/>
              <a:buNone/>
            </a:pPr>
            <a:r>
              <a:rPr b="1" i="0" lang="en-US" sz="11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운영 전환 시 필요한 것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7"/>
          <p:cNvSpPr/>
          <p:nvPr/>
        </p:nvSpPr>
        <p:spPr>
          <a:xfrm>
            <a:off x="566928" y="1773936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7"/>
          <p:cNvSpPr/>
          <p:nvPr/>
        </p:nvSpPr>
        <p:spPr>
          <a:xfrm>
            <a:off x="841248" y="1993392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4224528" y="2011680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조직 선택 후 생년월일 입력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7"/>
          <p:cNvSpPr/>
          <p:nvPr/>
        </p:nvSpPr>
        <p:spPr>
          <a:xfrm>
            <a:off x="7534656" y="2103120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7"/>
          <p:cNvSpPr/>
          <p:nvPr/>
        </p:nvSpPr>
        <p:spPr>
          <a:xfrm>
            <a:off x="7790688" y="2011680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사내 시스템 계정으로 바로 로그인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7"/>
          <p:cNvSpPr/>
          <p:nvPr/>
        </p:nvSpPr>
        <p:spPr>
          <a:xfrm>
            <a:off x="566928" y="2633472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7"/>
          <p:cNvSpPr/>
          <p:nvPr/>
        </p:nvSpPr>
        <p:spPr>
          <a:xfrm>
            <a:off x="841248" y="2852928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 데이터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7"/>
          <p:cNvSpPr/>
          <p:nvPr/>
        </p:nvSpPr>
        <p:spPr>
          <a:xfrm>
            <a:off x="4224528" y="2871216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시연용 가상 데이터 6개 부서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7"/>
          <p:cNvSpPr/>
          <p:nvPr/>
        </p:nvSpPr>
        <p:spPr>
          <a:xfrm>
            <a:off x="7534656" y="2962656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7"/>
          <p:cNvSpPr/>
          <p:nvPr/>
        </p:nvSpPr>
        <p:spPr>
          <a:xfrm>
            <a:off x="7790688" y="2871216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설문 결과 자동 연동 · 조직 개편 반영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7"/>
          <p:cNvSpPr/>
          <p:nvPr/>
        </p:nvSpPr>
        <p:spPr>
          <a:xfrm>
            <a:off x="566928" y="3493008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7"/>
          <p:cNvSpPr/>
          <p:nvPr/>
        </p:nvSpPr>
        <p:spPr>
          <a:xfrm>
            <a:off x="841248" y="3712464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 보호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7"/>
          <p:cNvSpPr/>
          <p:nvPr/>
        </p:nvSpPr>
        <p:spPr>
          <a:xfrm>
            <a:off x="4224528" y="3730752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수준의 기본 보호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7"/>
          <p:cNvSpPr/>
          <p:nvPr/>
        </p:nvSpPr>
        <p:spPr>
          <a:xfrm>
            <a:off x="7534656" y="3822192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7"/>
          <p:cNvSpPr/>
          <p:nvPr/>
        </p:nvSpPr>
        <p:spPr>
          <a:xfrm>
            <a:off x="7790688" y="3730752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전사 보안 기준 적용 · 열람 권한 세분화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7"/>
          <p:cNvSpPr/>
          <p:nvPr/>
        </p:nvSpPr>
        <p:spPr>
          <a:xfrm>
            <a:off x="566928" y="4352544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E8F1F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7"/>
          <p:cNvSpPr/>
          <p:nvPr/>
        </p:nvSpPr>
        <p:spPr>
          <a:xfrm>
            <a:off x="841248" y="4572000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이용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7"/>
          <p:cNvSpPr/>
          <p:nvPr/>
        </p:nvSpPr>
        <p:spPr>
          <a:xfrm>
            <a:off x="4224528" y="4590288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질문할 때마다 외부 AI 호출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7534656" y="4681728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17"/>
          <p:cNvSpPr/>
          <p:nvPr/>
        </p:nvSpPr>
        <p:spPr>
          <a:xfrm>
            <a:off x="7790688" y="4590288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자주 나오는 답변 재사용으로 비용 관리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7"/>
          <p:cNvSpPr/>
          <p:nvPr/>
        </p:nvSpPr>
        <p:spPr>
          <a:xfrm>
            <a:off x="566928" y="5212080"/>
            <a:ext cx="11057839" cy="749808"/>
          </a:xfrm>
          <a:prstGeom prst="roundRect">
            <a:avLst>
              <a:gd fmla="val 9756" name="adj"/>
            </a:avLst>
          </a:prstGeom>
          <a:solidFill>
            <a:srgbClr val="FFFFFF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7"/>
          <p:cNvSpPr/>
          <p:nvPr/>
        </p:nvSpPr>
        <p:spPr>
          <a:xfrm>
            <a:off x="841248" y="5431536"/>
            <a:ext cx="310896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D5A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2D5A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동시 사용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4224528" y="5449824"/>
            <a:ext cx="33832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5708A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65708A"/>
                </a:solidFill>
                <a:latin typeface="Malgun Gothic"/>
                <a:ea typeface="Malgun Gothic"/>
                <a:cs typeface="Malgun Gothic"/>
                <a:sym typeface="Malgun Gothic"/>
              </a:rPr>
              <a:t>1대에서 시연용으로 구동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7"/>
          <p:cNvSpPr/>
          <p:nvPr/>
        </p:nvSpPr>
        <p:spPr>
          <a:xfrm>
            <a:off x="7534656" y="5541264"/>
            <a:ext cx="182880" cy="10972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0098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7"/>
          <p:cNvSpPr/>
          <p:nvPr/>
        </p:nvSpPr>
        <p:spPr>
          <a:xfrm>
            <a:off x="7790688" y="5449824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72033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172033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부서가 동시에 접속하는 운영 환경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7"/>
          <p:cNvSpPr/>
          <p:nvPr/>
        </p:nvSpPr>
        <p:spPr>
          <a:xfrm>
            <a:off x="566928" y="6053328"/>
            <a:ext cx="11057839" cy="566928"/>
          </a:xfrm>
          <a:prstGeom prst="roundRect">
            <a:avLst>
              <a:gd fmla="val 12903" name="adj"/>
            </a:avLst>
          </a:prstGeom>
          <a:solidFill>
            <a:srgbClr val="FFF7E8"/>
          </a:solidFill>
          <a:ln cap="flat" cmpd="sng" w="12700">
            <a:solidFill>
              <a:srgbClr val="DFE5E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25400">
              <a:srgbClr val="8894A8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7"/>
          <p:cNvSpPr/>
          <p:nvPr/>
        </p:nvSpPr>
        <p:spPr>
          <a:xfrm>
            <a:off x="859536" y="6144768"/>
            <a:ext cx="9686239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5A00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8A5A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본 결과물은 사외 시연용 데모로, 실제 설문 데이터가 아닌 합성 데이터 사용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D5A"/>
        </a:solidFill>
      </p:bgPr>
    </p:bg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8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004381">
              <a:alpha val="4509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18"/>
          <p:cNvSpPr/>
          <p:nvPr/>
        </p:nvSpPr>
        <p:spPr>
          <a:xfrm>
            <a:off x="9326880" y="-2194560"/>
            <a:ext cx="5120640" cy="5120640"/>
          </a:xfrm>
          <a:prstGeom prst="ellipse">
            <a:avLst/>
          </a:prstGeom>
          <a:solidFill>
            <a:srgbClr val="0098D9">
              <a:alpha val="2196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8"/>
          <p:cNvSpPr/>
          <p:nvPr/>
        </p:nvSpPr>
        <p:spPr>
          <a:xfrm>
            <a:off x="566928" y="1874520"/>
            <a:ext cx="86868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8D9"/>
              </a:buClr>
              <a:buSzPts val="1300"/>
              <a:buFont typeface="Malgun Gothic"/>
              <a:buNone/>
            </a:pPr>
            <a:r>
              <a:rPr b="1" i="0" lang="en-US" sz="1300" u="none" cap="none" strike="noStrike">
                <a:solidFill>
                  <a:srgbClr val="0098D9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프로젝트가 지킨 한 가지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566925" y="2286000"/>
            <a:ext cx="11055096" cy="229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57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algun Gothic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"우리 조직의 건강도 진단 결과를 구체적으로 전달하고,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157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algun Gothic"/>
              <a:buNone/>
            </a:pPr>
            <a:r>
              <a:rPr b="1" lang="en-US" sz="34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조직 운영을 위한 가이드를 제공한다"</a:t>
            </a:r>
            <a:endParaRPr b="1" sz="3800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3" name="Google Shape;503;p18"/>
          <p:cNvSpPr/>
          <p:nvPr/>
        </p:nvSpPr>
        <p:spPr>
          <a:xfrm>
            <a:off x="566928" y="6283515"/>
            <a:ext cx="87783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9CBC"/>
              </a:buClr>
              <a:buSzPts val="1100"/>
              <a:buFont typeface="Malgun Gothic"/>
              <a:buNone/>
            </a:pPr>
            <a:r>
              <a:rPr b="0" i="0" lang="en-US" sz="1100" u="none" cap="none" strike="noStrike">
                <a:solidFill>
                  <a:srgbClr val="7E9CBC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조직건강도 AI Agent  ·  프로젝트 수행 결과 보고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2026-08-05T05:14:44Z</dcterms:created>
  <dc:creator>AI활용전문가 과정</dc:creator>
</cp:coreProperties>
</file>