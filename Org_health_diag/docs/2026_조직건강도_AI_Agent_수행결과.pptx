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긍정 응답 비중</c:v>
                </c:pt>
              </c:strCache>
            </c:strRef>
          </c:tx>
          <c:spPr>
            <a:solidFill>
              <a:srgbClr val="0043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72033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철강사업실</c:v>
                  </c:pt>
                  <c:pt idx="1">
                    <c:v>철강설계실</c:v>
                  </c:pt>
                  <c:pt idx="2">
                    <c:v>기술기획실</c:v>
                  </c:pt>
                  <c:pt idx="3">
                    <c:v>플랜트설계실</c:v>
                  </c:pt>
                  <c:pt idx="4">
                    <c:v>건설전략실</c:v>
                  </c:pt>
                  <c:pt idx="5">
                    <c:v>경영혁신실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73.6</c:v>
                </c:pt>
                <c:pt idx="1">
                  <c:v>73.5</c:v>
                </c:pt>
                <c:pt idx="2">
                  <c:v>59.2</c:v>
                </c:pt>
                <c:pt idx="3">
                  <c:v>58.2</c:v>
                </c:pt>
                <c:pt idx="4">
                  <c:v>53</c:v>
                </c:pt>
                <c:pt idx="5">
                  <c:v>52.4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72033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5708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12700" cap="flat">
              <a:solidFill>
                <a:srgbClr val="DF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570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조직건강도 설문 결과를 부서장이 스스로 해석하고 구성원과의 대화 주제를 찾도록 돕는 웹 애플리케이션을 설계·구현한 프로젝트입니다.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 요약. 무엇을 왜 만들었고, 어떤 원칙을 지켰는지.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6가지는 기획 문서(06_guardrails.md)에 정의되어 있으며, 이후 모든 구현 판단의 기준이 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원칙 → 데이터 → 화면 순서. 화면을 두 번 만든 것은 낭비가 아니라 검증 단계였습니다.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3계층 구조. 해석 사전을 공유해 두 프론트엔드가 같은 문장을 내보냅니다.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 구성. 요약에서 시작해 문항 근거까지 스크롤 한 번으로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성격을 먼저 판별해 라우팅합니다. 키워드가 있다고 무조건 카드를 반복하지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HR 화면과 부서장 화면의 비교 허용 범위를 의도적으로 다르게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가드레일 6가지가 각각 어디에 구현되어 있는지 대응표입니다.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단순히 문구만 바꾼 게 아니라, 비교 대상 산출 함수와 폴백 규칙을 새로 설계했습니다.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실측 기반으로 원인을 찾고 고쳤다는 점이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겉으로는 UI 버그처럼 보였지만 실제 원인은 프레임워크의 세션 저장 방식이었습니다.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피드백을 받은 뒤 데이터를 다시 만들되, 다른 화면의 결론이 흔들리지 않도록 제약을 걸었습니다.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버전 모두 저장소에 남아 있고, 해석 사전 모듈은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데모와 운영의 간극을 솔직하게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 원칙 하나로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0"/>
            <a:ext cx="3931920" cy="6858000"/>
          </a:xfrm>
          <a:prstGeom prst="rect">
            <a:avLst/>
          </a:prstGeom>
          <a:solidFill>
            <a:srgbClr val="004381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0098D9">
              <a:alpha val="2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778240" y="3840480"/>
            <a:ext cx="3108960" cy="310896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17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COMPLETION REPORT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82880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조직건강도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7033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FC6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부서장이 스스로 해석하고, 구성원과 대화를 시작하게 하는 진단 리포트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489204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B2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응답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51389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37,248건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081528" y="489204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B2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문항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81528" y="51389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32문항 · 14영역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596128" y="489204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FB2D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조직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596128" y="51389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부서 · 3개년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6928" y="61722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C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포스코그룹 AI활용전문가 과정  ·  프로젝트 과제  ·  2026.08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도구가 아닌, 대화를 여는 진단 리포트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11057839" cy="1298448"/>
          </a:xfrm>
          <a:prstGeom prst="roundRect">
            <a:avLst>
              <a:gd name="adj" fmla="val 5634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9536" y="1536192"/>
            <a:ext cx="1047262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결과가 연도별 엑셀로만 존재하고, 부서장은 자기 조직의 숫자를 어떻게 읽어야 할지 모르는 상태였다. 본 과제는 그 엑셀을 부서장이 혼자서도 해석할 수 있는 웹 리포트로 바꾸되, '평가에 쓰이지 않는다'는 원칙을 데이터 처리부터 문장 생성까지 일관되게 관철하는 것을 목표로 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889504"/>
            <a:ext cx="25175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3054096"/>
            <a:ext cx="20603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804672" y="3877056"/>
            <a:ext cx="206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사용자 화면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4169664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 리포트 · HR 관리자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13684" y="2889504"/>
            <a:ext cx="25175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1428" y="3054096"/>
            <a:ext cx="20603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3651428" y="3877056"/>
            <a:ext cx="206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구성 리포트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51428" y="4169664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요약→영역→문항→추이→AI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60440" y="2889504"/>
            <a:ext cx="25175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98184" y="3054096"/>
            <a:ext cx="20603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9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498184" y="3877056"/>
            <a:ext cx="206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 AI 라우팅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98184" y="4169664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· 데이터근거 LLM · 웹검색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107195" y="2889504"/>
            <a:ext cx="25175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44939" y="3054096"/>
            <a:ext cx="20603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91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9344939" y="3877056"/>
            <a:ext cx="20603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 윤리 원칙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344939" y="4169664"/>
            <a:ext cx="20603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강제한 가드레일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901184"/>
            <a:ext cx="11057839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" y="50657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성과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852928" y="5029200"/>
            <a:ext cx="840607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프로토타입으로 개념을 검증한 뒤 FastAPI + SQLite 웹앱으로 전환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 지침 변경(부서 간 비교 지양)을 해석 로직 전면 재설계로 반영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 2027년 시트가 추가돼도 코드 수정 없이 동작하도록 연도 구조 일반화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주는 것보다, 오해를 막는 것이 더 어려웠다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5230368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60934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C94B5F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609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6276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상황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77824" y="2103120"/>
            <a:ext cx="46268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결과가 연도별 엑셀 파일로만 존재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부서장은 자기 조직 숫자의 의미를 판단하기 어려움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 쓰이면 조직장 평가·문책 도구가 될 위험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53328" y="1371600"/>
            <a:ext cx="55686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27648" y="1609344"/>
            <a:ext cx="365760" cy="365760"/>
          </a:xfrm>
          <a:prstGeom prst="roundRect">
            <a:avLst>
              <a:gd name="adj" fmla="val 25000"/>
            </a:avLst>
          </a:prstGeom>
          <a:solidFill>
            <a:srgbClr val="004381"/>
          </a:solidFill>
          <a:ln/>
        </p:spPr>
      </p:sp>
      <p:sp>
        <p:nvSpPr>
          <p:cNvPr id="12" name="Text 10"/>
          <p:cNvSpPr/>
          <p:nvPr/>
        </p:nvSpPr>
        <p:spPr>
          <a:xfrm>
            <a:off x="6327648" y="1609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03136" y="162763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방향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64224" y="21031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 — 본인 조직만 조회, 해석과 대화 주제 제공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 관리자 — Raw Data 관리와 전사 현황 점검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평가자가 아니라 해석자·대화 촉진자로 한정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66928" y="376732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강제해야 했던 6가지 제약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4187952"/>
            <a:ext cx="3503066" cy="896112"/>
          </a:xfrm>
          <a:prstGeom prst="roundRect">
            <a:avLst>
              <a:gd name="adj" fmla="val 816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6384" y="431596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 미제공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86384" y="4590288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총점·지수 형태의 수치를 만들지 않는다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44314" y="4187952"/>
            <a:ext cx="3503066" cy="896112"/>
          </a:xfrm>
          <a:prstGeom prst="roundRect">
            <a:avLst>
              <a:gd name="adj" fmla="val 816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63770" y="431596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등급·순위 미제공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63770" y="4590288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A/B/C 등급이나 부서 순위를 표시하지 않는다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1701" y="4187952"/>
            <a:ext cx="3503066" cy="896112"/>
          </a:xfrm>
          <a:prstGeom prst="roundRect">
            <a:avLst>
              <a:gd name="adj" fmla="val 816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41157" y="431596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원문 미노출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41157" y="4590288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주관식은 반복 경향만 요약해 보여준다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212080"/>
            <a:ext cx="3503066" cy="896112"/>
          </a:xfrm>
          <a:prstGeom prst="roundRect">
            <a:avLst>
              <a:gd name="adj" fmla="val 816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6384" y="5340096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응답 보호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86384" y="5614416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10명 미만 조직은 결과를 숨긴다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344314" y="5212080"/>
            <a:ext cx="3503066" cy="896112"/>
          </a:xfrm>
          <a:prstGeom prst="roundRect">
            <a:avLst>
              <a:gd name="adj" fmla="val 816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563770" y="5340096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평가성 표현 금지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63770" y="5614416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'문제가 있다', '실패했다' 류 문장을 쓰지 않는다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121701" y="5212080"/>
            <a:ext cx="3503066" cy="896112"/>
          </a:xfrm>
          <a:prstGeom prst="roundRect">
            <a:avLst>
              <a:gd name="adj" fmla="val 816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41157" y="5340096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간 비교 지양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41157" y="5614416"/>
            <a:ext cx="30641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 화면에서 타 부서·전사 평균과 비교하지 않는다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원칙을 먼저 고정하고, 화면은 두 번 만들었다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429914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71907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004381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40864"/>
            <a:ext cx="2881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원칙과 사전 정의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41248" y="2670048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사전과 가드레일을 먼저 문서로 확정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3200400"/>
            <a:ext cx="28812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14개 영역별 긍정·중립·부정 해석 문장 사전화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표현 / 권장 표현 목록 작성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 32개 → 중분류 14 → 대분류 2 매핑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69994" y="3291840"/>
            <a:ext cx="237744" cy="237744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0890" y="1463040"/>
            <a:ext cx="3429914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55210" y="171907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004381"/>
          </a:solidFill>
          <a:ln/>
        </p:spPr>
      </p:sp>
      <p:sp>
        <p:nvSpPr>
          <p:cNvPr id="14" name="Text 12"/>
          <p:cNvSpPr/>
          <p:nvPr/>
        </p:nvSpPr>
        <p:spPr>
          <a:xfrm>
            <a:off x="4655210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55210" y="2340864"/>
            <a:ext cx="2881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파이프라인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55210" y="2670048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 분석 가능한 구조로 정규화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55210" y="3200400"/>
            <a:ext cx="28812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시트 → long format 변환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5개 테이블 적재 (37,248건)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시 동일 파이프라인 재사용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83957" y="3291840"/>
            <a:ext cx="237744" cy="237744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19" name="Shape 17"/>
          <p:cNvSpPr/>
          <p:nvPr/>
        </p:nvSpPr>
        <p:spPr>
          <a:xfrm>
            <a:off x="8194853" y="1463040"/>
            <a:ext cx="3429914" cy="39776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69173" y="1719072"/>
            <a:ext cx="475488" cy="475488"/>
          </a:xfrm>
          <a:prstGeom prst="roundRect">
            <a:avLst>
              <a:gd name="adj" fmla="val 19231"/>
            </a:avLst>
          </a:prstGeom>
          <a:solidFill>
            <a:srgbClr val="0098D9"/>
          </a:solidFill>
          <a:ln/>
        </p:spPr>
      </p:sp>
      <p:sp>
        <p:nvSpPr>
          <p:cNvPr id="21" name="Text 19"/>
          <p:cNvSpPr/>
          <p:nvPr/>
        </p:nvSpPr>
        <p:spPr>
          <a:xfrm>
            <a:off x="846917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469173" y="2340864"/>
            <a:ext cx="2881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화면과 AI 구현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69173" y="2670048"/>
            <a:ext cx="2881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검증 후 웹앱으로 전환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469173" y="3200400"/>
            <a:ext cx="288127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Streamlit으로 구성·문구 빠르게 검증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+ SQLite로 재구축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라우팅 챗봇과 리포트 내보내기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0992"/>
            <a:ext cx="11057839" cy="713232"/>
          </a:xfrm>
          <a:prstGeom prst="roundRect">
            <a:avLst>
              <a:gd name="adj" fmla="val 10256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9536" y="5779008"/>
            <a:ext cx="104726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프로토타입을 버리지 않고 남겨둔 이유 — Streamlit 버전은 문구와 구성 검증에 쓰고, 운영형 요구(세션·업로드·성능)가 확인된 뒤 FastAPI로 옮겼다. 두 버전은 포트가 달라 동시 구동이 가능하다.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나눠 해석 로직을 한 곳에 모았다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26464"/>
            <a:ext cx="11057839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664208"/>
            <a:ext cx="1572768" cy="420624"/>
          </a:xfrm>
          <a:prstGeom prst="roundRect">
            <a:avLst>
              <a:gd name="adj" fmla="val 19565"/>
            </a:avLst>
          </a:prstGeom>
          <a:solidFill>
            <a:srgbClr val="004381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1572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Presentation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96896" y="1609344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79776" y="1755648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+ Jinja2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79776" y="2048256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렌더링 4개 화면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06186" y="1609344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89066" y="1755648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(로컬 번들)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89066" y="2048256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없이도 차트 렌더링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15477" y="1609344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98357" y="1755648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report.js / admin.js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98357" y="2048256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필터·정렬·스크롤·챗봇 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3054096"/>
            <a:ext cx="11057839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4672" y="3291840"/>
            <a:ext cx="1572768" cy="420624"/>
          </a:xfrm>
          <a:prstGeom prst="roundRect">
            <a:avLst>
              <a:gd name="adj" fmla="val 19565"/>
            </a:avLst>
          </a:prstGeom>
          <a:solidFill>
            <a:srgbClr val="0098D9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3291840"/>
            <a:ext cx="1572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Domain Logic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596896" y="3236976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79776" y="3383280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analytics.py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79776" y="3675888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집계 + 부서 내부 비교 해석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06186" y="3236976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89066" y="3383280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chat_service.py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89066" y="3675888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라우팅 + 금지 요청 차단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615477" y="3236976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98357" y="3383280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catalog.py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798357" y="3675888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 매핑 · 해석 사전 (공용)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11057839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04672" y="4919472"/>
            <a:ext cx="1572768" cy="420624"/>
          </a:xfrm>
          <a:prstGeom prst="roundRect">
            <a:avLst>
              <a:gd name="adj" fmla="val 19565"/>
            </a:avLst>
          </a:prstGeom>
          <a:solidFill>
            <a:srgbClr val="00A950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" y="4919472"/>
            <a:ext cx="15727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&amp; External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596896" y="4864608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79776" y="5010912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5 tables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79776" y="5303520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responses · open_texts · orgs · admins · logs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06186" y="4864608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89066" y="5010912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seed.py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89066" y="5303520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→ DB 적재 (업로드 시 재사용)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15477" y="4864608"/>
            <a:ext cx="2753258" cy="1097280"/>
          </a:xfrm>
          <a:prstGeom prst="roundRect">
            <a:avLst>
              <a:gd name="adj" fmla="val 5833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98357" y="5010912"/>
            <a:ext cx="2387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· Tavily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798357" y="5303520"/>
            <a:ext cx="23874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 답변 · 웹검색 · 대화 요약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6928" y="6327648"/>
            <a:ext cx="100519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사전(catalog.py)과 문항 매핑은 Streamlit·FastAPI 두 버전이 같은 파일을 참조한다 — 문구를 한 곳에서만 고치면 되도록.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 리포트 — 위에서 아래로 읽으면 근거까지 도달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C:\Users\admin\Desktop\AI 활용 전문가\프로젝트과제\Org_health_diag\docs\shots\02_report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6400800" cy="40507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89888"/>
            <a:ext cx="6400800" cy="4050792"/>
          </a:xfrm>
          <a:prstGeom prst="roundRect">
            <a:avLst>
              <a:gd name="adj" fmla="val 903"/>
            </a:avLst>
          </a:prstGeom>
          <a:ln w="12700">
            <a:solidFill>
              <a:srgbClr val="DFE5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260336" y="138988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8" name="Text 5"/>
          <p:cNvSpPr/>
          <p:nvPr/>
        </p:nvSpPr>
        <p:spPr>
          <a:xfrm>
            <a:off x="7260336" y="1389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35824" y="1371600"/>
            <a:ext cx="3888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요약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35824" y="1627632"/>
            <a:ext cx="388894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긍정·부정 Top3 영역과 주관식 경향, AI Executive Summary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260336" y="221284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12" name="Text 9"/>
          <p:cNvSpPr/>
          <p:nvPr/>
        </p:nvSpPr>
        <p:spPr>
          <a:xfrm>
            <a:off x="7260336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35824" y="2194560"/>
            <a:ext cx="3888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카테고리별 결과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35824" y="2450592"/>
            <a:ext cx="388894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14개 영역을 대분류 기준 좌우 분할로 동시 제시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260336" y="303580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16" name="Text 13"/>
          <p:cNvSpPr/>
          <p:nvPr/>
        </p:nvSpPr>
        <p:spPr>
          <a:xfrm>
            <a:off x="7260336" y="3035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735824" y="3017520"/>
            <a:ext cx="3888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32개 문항 근거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735824" y="3273552"/>
            <a:ext cx="388894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 원문을 제목으로, 중분류 필터·정렬 지원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260336" y="385876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20" name="Text 17"/>
          <p:cNvSpPr/>
          <p:nvPr/>
        </p:nvSpPr>
        <p:spPr>
          <a:xfrm>
            <a:off x="7260336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735824" y="3840480"/>
            <a:ext cx="3888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3개년 변화 분석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35824" y="4096512"/>
            <a:ext cx="388894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긍정/중립/부정을 독립 축으로 확대해 미세 변화까지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260336" y="468172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24" name="Text 21"/>
          <p:cNvSpPr/>
          <p:nvPr/>
        </p:nvSpPr>
        <p:spPr>
          <a:xfrm>
            <a:off x="7260336" y="4681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735824" y="4663440"/>
            <a:ext cx="38889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조직 운영 인사이트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735824" y="4919472"/>
            <a:ext cx="388894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 신호, 대화 주제, 구성원 질문 예시, 챗봇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66928" y="5632704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59536" y="5797296"/>
            <a:ext cx="104726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어디에도 총점·등급·순위가 없다. 응답 비중(%)과 '어떤 대화를 해볼 수 있는지'만 남긴 것이 이 리포트의 설계 결론이다.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챗봇 — 질문의 성격에 따라 세 갈래로 나눈다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3466490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6459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0A950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16736" y="1664208"/>
            <a:ext cx="2460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규칙 응답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2176272"/>
            <a:ext cx="2954426" cy="329184"/>
          </a:xfrm>
          <a:prstGeom prst="roundRect">
            <a:avLst>
              <a:gd name="adj" fmla="val 44444"/>
            </a:avLst>
          </a:prstGeom>
          <a:solidFill>
            <a:srgbClr val="E8F1F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176272"/>
            <a:ext cx="29544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짧은 키워드 조회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2615184"/>
            <a:ext cx="29544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"가용자원"처럼 영역명만 물으면 DB 집계와 해석 사전으로 카드를 즉시 생성한다. 외부 호출 없음.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62602" y="1408176"/>
            <a:ext cx="3466490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18634" y="16459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098D9"/>
          </a:solidFill>
          <a:ln/>
        </p:spPr>
      </p:sp>
      <p:sp>
        <p:nvSpPr>
          <p:cNvPr id="14" name="Text 12"/>
          <p:cNvSpPr/>
          <p:nvPr/>
        </p:nvSpPr>
        <p:spPr>
          <a:xfrm>
            <a:off x="4618634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12410" y="1664208"/>
            <a:ext cx="2460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 LLM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618634" y="2176272"/>
            <a:ext cx="2954426" cy="329184"/>
          </a:xfrm>
          <a:prstGeom prst="roundRect">
            <a:avLst>
              <a:gd name="adj" fmla="val 44444"/>
            </a:avLst>
          </a:prstGeom>
          <a:solidFill>
            <a:srgbClr val="E8F1F8"/>
          </a:solidFill>
          <a:ln/>
        </p:spPr>
      </p:sp>
      <p:sp>
        <p:nvSpPr>
          <p:cNvPr id="17" name="Text 15"/>
          <p:cNvSpPr/>
          <p:nvPr/>
        </p:nvSpPr>
        <p:spPr>
          <a:xfrm>
            <a:off x="4618634" y="2176272"/>
            <a:ext cx="29544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문장형 후속 질문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18634" y="2615184"/>
            <a:ext cx="29544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"한정된 자원을 어떻게 조율할까?"는 그 부서의 실제 수치를 컨텍스트로 넘겨 LLM이 질문에 직접 답한다.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58277" y="1408176"/>
            <a:ext cx="3466490" cy="2212848"/>
          </a:xfrm>
          <a:prstGeom prst="roundRect">
            <a:avLst>
              <a:gd name="adj" fmla="val 330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4309" y="164592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8912D"/>
          </a:solidFill>
          <a:ln/>
        </p:spPr>
      </p:sp>
      <p:sp>
        <p:nvSpPr>
          <p:cNvPr id="21" name="Text 19"/>
          <p:cNvSpPr/>
          <p:nvPr/>
        </p:nvSpPr>
        <p:spPr>
          <a:xfrm>
            <a:off x="8414309" y="1645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08085" y="1664208"/>
            <a:ext cx="24606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웹검색 기반 답변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414309" y="2176272"/>
            <a:ext cx="2954426" cy="329184"/>
          </a:xfrm>
          <a:prstGeom prst="roundRect">
            <a:avLst>
              <a:gd name="adj" fmla="val 44444"/>
            </a:avLst>
          </a:prstGeom>
          <a:solidFill>
            <a:srgbClr val="E8F1F8"/>
          </a:solidFill>
          <a:ln/>
        </p:spPr>
      </p:sp>
      <p:sp>
        <p:nvSpPr>
          <p:cNvPr id="24" name="Text 22"/>
          <p:cNvSpPr/>
          <p:nvPr/>
        </p:nvSpPr>
        <p:spPr>
          <a:xfrm>
            <a:off x="8414309" y="2176272"/>
            <a:ext cx="29544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진단과 무관한 일반 질문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414309" y="2615184"/>
            <a:ext cx="295442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리더십 일반론은 Tavily 검색 결과를 근거로 요약하고 출처 링크를 함께 제시한다.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3803904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FDEEF0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684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장치 — 개인 특정·징계성 요청 차단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41248" y="42976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"부정 응답한 직급 찾아서 혼내야겠다" 같은 요청은 세 갈래 어디로도 보내지 않고 즉시 거절한다. 데이터가 익명 집계라 특정이 불가능하다는 사실과 함께, 원인 상황을 보는 관점으로 되돌린다.</a:t>
            </a:r>
            <a:endParaRPr lang="en-US" sz="1100" dirty="0"/>
          </a:p>
        </p:txBody>
      </p:sp>
      <p:pic>
        <p:nvPicPr>
          <p:cNvPr id="29" name="Image 0" descr="C:\Users\admin\Desktop\AI 활용 전문가\프로젝트과제\Org_health_diag\docs\shots\06_chat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76" y="3803904"/>
            <a:ext cx="5641848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HR 관리자 화면 — 비교가 목적인 화면은 따로 두었다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C:\Users\admin\Desktop\AI 활용 전문가\프로젝트과제\Org_health_diag\docs\shots\08_admin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89888"/>
            <a:ext cx="6766560" cy="42885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389888"/>
            <a:ext cx="6766560" cy="4288536"/>
          </a:xfrm>
          <a:prstGeom prst="roundRect">
            <a:avLst>
              <a:gd name="adj" fmla="val 853"/>
            </a:avLst>
          </a:prstGeom>
          <a:ln w="12700">
            <a:solidFill>
              <a:srgbClr val="DFE5E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26096" y="138988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389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01584" y="1371600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Raw Data 업로드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101584" y="1645920"/>
            <a:ext cx="352318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엑셀을 올리면 검증 후 DB 전체를 교체하고, 실패 시 기존 데이터를 유지한다. 기본 더미 데이터로 되돌리기도 지원.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626096" y="248716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12" name="Text 9"/>
          <p:cNvSpPr/>
          <p:nvPr/>
        </p:nvSpPr>
        <p:spPr>
          <a:xfrm>
            <a:off x="7626096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01584" y="2468880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결과 비교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101584" y="2743200"/>
            <a:ext cx="352318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평균 대비 ±3.0%p를 기준으로 우수/관심 필요를 구분한다. 점수·등급은 여기서도 쓰지 않는다.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626096" y="358444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16" name="Text 13"/>
          <p:cNvSpPr/>
          <p:nvPr/>
        </p:nvSpPr>
        <p:spPr>
          <a:xfrm>
            <a:off x="7626096" y="3584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101584" y="3566160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변화 추이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101584" y="3840480"/>
            <a:ext cx="352318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긍정 비중을 한 차트에 겹쳐 전사 흐름을 본다.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626096" y="4681728"/>
            <a:ext cx="347472" cy="347472"/>
          </a:xfrm>
          <a:prstGeom prst="roundRect">
            <a:avLst>
              <a:gd name="adj" fmla="val 26316"/>
            </a:avLst>
          </a:prstGeom>
          <a:solidFill>
            <a:srgbClr val="004381"/>
          </a:solidFill>
          <a:ln/>
        </p:spPr>
      </p:sp>
      <p:sp>
        <p:nvSpPr>
          <p:cNvPr id="20" name="Text 17"/>
          <p:cNvSpPr/>
          <p:nvPr/>
        </p:nvSpPr>
        <p:spPr>
          <a:xfrm>
            <a:off x="7626096" y="4681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101584" y="4663440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부서장 접근 이력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101584" y="4937760"/>
            <a:ext cx="352318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로그인·챗봇·다운로드 이력을 기록해 감사 근거를 남긴다.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5870448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59536" y="5961888"/>
            <a:ext cx="1047262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간 비교는 HR의 업무 목적이므로 이 화면에만 남기고, 부서장 리포트에서는 전면 제거했다 — 같은 데이터라도 보는 사람에 따라 허용 범위를 다르게 설계.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원칙을 문서가 아니라 코드로 강제했다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41248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913632" y="14264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방식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705088" y="1426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위치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773936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41248" y="195681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점수·등급·순위 미제공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913632" y="19568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화면에도 총점/등급 필드가 존재하지 않음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705088" y="19751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단계에서 스키마에 미포함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532888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7157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응답 보호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913632" y="271576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10명 미만 조직은 리포트 자체를 차단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05088" y="2734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is_suppressed() 게이트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291840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34747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응답 원문 미노출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13632" y="34747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주관식은 동일 응답 빈도 Top3만 집계 후 표시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05088" y="349300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text ORDER BY COUNT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050792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42336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평가성 표현 금지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913632" y="42336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14개 영역 × 긍정/중립/부정 문장을 사전으로 고정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705088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catalog.MID_INTERPRETATION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4809744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41248" y="499262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특정·징계 요청 차단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913632" y="49926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징계 의도 + 특정 의도 동시 감지 시 응답 거부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705088" y="50109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chat_service 사전 가드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5568696"/>
            <a:ext cx="11057839" cy="658368"/>
          </a:xfrm>
          <a:prstGeom prst="roundRect">
            <a:avLst>
              <a:gd name="adj" fmla="val 11111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" y="57515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이력 기록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913632" y="575157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로그인·챗봇·다운로드를 모두 로깅해 감사 근거 확보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705088" y="57698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access_logs 테이블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 한 줄이 바뀌자 해석 로직을 통째로 다시 짰다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11057839" cy="786384"/>
          </a:xfrm>
          <a:prstGeom prst="roundRect">
            <a:avLst>
              <a:gd name="adj" fmla="val 9302"/>
            </a:avLst>
          </a:prstGeom>
          <a:solidFill>
            <a:srgbClr val="FFF7E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517904"/>
            <a:ext cx="104360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"부서 간 비교를 지양해야 한다"  —  프로젝트 중반 HR 부서로부터 전달받은 지침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377440"/>
            <a:ext cx="52303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578608"/>
            <a:ext cx="1005840" cy="310896"/>
          </a:xfrm>
          <a:prstGeom prst="roundRect">
            <a:avLst>
              <a:gd name="adj" fmla="val 47059"/>
            </a:avLst>
          </a:prstGeom>
          <a:solidFill>
            <a:srgbClr val="C94B5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578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956816" y="2596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전사 평균과 비교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1248" y="3017520"/>
            <a:ext cx="46817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"전사 평균 대비 긍정 응답 비중이 +12.5%p 높습니다"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부서장이 자기 부서의 순위를 역산할 수 있고, 사실상 부서 간 비교로 읽힌다.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53328" y="2377440"/>
            <a:ext cx="5568696" cy="2011680"/>
          </a:xfrm>
          <a:prstGeom prst="roundRect">
            <a:avLst>
              <a:gd name="adj" fmla="val 3636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2578608"/>
            <a:ext cx="1005840" cy="310896"/>
          </a:xfrm>
          <a:prstGeom prst="roundRect">
            <a:avLst>
              <a:gd name="adj" fmla="val 47059"/>
            </a:avLst>
          </a:prstGeom>
          <a:solidFill>
            <a:srgbClr val="00A95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2578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43216" y="25968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부서 내부에서만 비교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27648" y="3017520"/>
            <a:ext cx="502005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"대분류(회사 지원 수준) 내 다른 영역 평균 대비 -14.9%p 낮습니다"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비교 대상이 우리 부서 안에 머물러, 다른 부서를 추론할 여지가 없다.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4626864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대상이 없을 때를 대비한 3단 폴백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992624"/>
            <a:ext cx="350306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04672" y="5138928"/>
            <a:ext cx="30458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4672" y="5394960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중분류 안의 다른 문항 평균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4672" y="5705856"/>
            <a:ext cx="3045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 단위 비교의 기본값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344314" y="4992624"/>
            <a:ext cx="350306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82058" y="5138928"/>
            <a:ext cx="30458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2순위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82058" y="5394960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대분류 안의 다른 문항 평균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82058" y="5705856"/>
            <a:ext cx="3045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중분류에 문항이 1개뿐인 경우 (예: 리더에 대한 신뢰)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121701" y="4992624"/>
            <a:ext cx="3503066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359445" y="5138928"/>
            <a:ext cx="304586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3순위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59445" y="5394960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없이 분포만 서술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59445" y="5705856"/>
            <a:ext cx="30458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대상이 아예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 좋은 화면은 버그 세 개를 잡은 결과였다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3466490" cy="4114800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645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C94B5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157984"/>
            <a:ext cx="29544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시작 위치가 문항마다 달랐다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22960" y="279806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035808"/>
            <a:ext cx="295442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 원문을 차트의 y축 라벨로 쓰다 보니, 글자 길이에 따라 막대 시작점이 밀렸다.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950208"/>
            <a:ext cx="2954426" cy="1371600"/>
          </a:xfrm>
          <a:prstGeom prst="roundRect">
            <a:avLst>
              <a:gd name="adj" fmla="val 4667"/>
            </a:avLst>
          </a:prstGeom>
          <a:solidFill>
            <a:srgbClr val="E8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4059936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87552" y="4297680"/>
            <a:ext cx="26252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y축 라벨을 없애고 문항을 HTML 제목으로 분리 → 모든 막대가 같은 x에서 시작 (실측 32개 전부 952px 동일)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62602" y="1408176"/>
            <a:ext cx="3466490" cy="4114800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8634" y="1645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C94B5F"/>
          </a:solidFill>
          <a:ln/>
        </p:spPr>
      </p:sp>
      <p:sp>
        <p:nvSpPr>
          <p:cNvPr id="16" name="Text 14"/>
          <p:cNvSpPr/>
          <p:nvPr/>
        </p:nvSpPr>
        <p:spPr>
          <a:xfrm>
            <a:off x="4618634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18634" y="2157984"/>
            <a:ext cx="29544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구간의 수치가 사라졌다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618634" y="279806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18634" y="3035808"/>
            <a:ext cx="295442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Plotly는 스택 막대에서 글자가 안 들어가면 라벨을 통째로 감춘다. 바깥 배치도 지원하지 않는다.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18634" y="3950208"/>
            <a:ext cx="2954426" cy="1371600"/>
          </a:xfrm>
          <a:prstGeom prst="roundRect">
            <a:avLst>
              <a:gd name="adj" fmla="val 4667"/>
            </a:avLst>
          </a:prstGeom>
          <a:solidFill>
            <a:srgbClr val="E8F1F8"/>
          </a:solidFill>
          <a:ln/>
        </p:spPr>
      </p:sp>
      <p:sp>
        <p:nvSpPr>
          <p:cNvPr id="21" name="Text 19"/>
          <p:cNvSpPr/>
          <p:nvPr/>
        </p:nvSpPr>
        <p:spPr>
          <a:xfrm>
            <a:off x="4783226" y="4059936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783226" y="4297680"/>
            <a:ext cx="26252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11% 미만 구간은 막대 오른쪽 고정폭 칸에 주석으로 표시. 웹앱에서는 렌더링 후 실제 폭을 재서 자동 이동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58277" y="1408176"/>
            <a:ext cx="3466490" cy="4114800"/>
          </a:xfrm>
          <a:prstGeom prst="roundRect">
            <a:avLst>
              <a:gd name="adj" fmla="val 2110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414309" y="1645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C94B5F"/>
          </a:solidFill>
          <a:ln/>
        </p:spPr>
      </p:sp>
      <p:sp>
        <p:nvSpPr>
          <p:cNvPr id="25" name="Text 23"/>
          <p:cNvSpPr/>
          <p:nvPr/>
        </p:nvSpPr>
        <p:spPr>
          <a:xfrm>
            <a:off x="8414309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14309" y="2157984"/>
            <a:ext cx="29544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한글이 음절 단위로 잘렸다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414309" y="279806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14309" y="3035808"/>
            <a:ext cx="295442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브라우저는 한글에 CJK 줄바꿈 규칙을 적용해 아무 글자 사이에서나 줄을 바꾼다.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414309" y="3950208"/>
            <a:ext cx="2954426" cy="1371600"/>
          </a:xfrm>
          <a:prstGeom prst="roundRect">
            <a:avLst>
              <a:gd name="adj" fmla="val 4667"/>
            </a:avLst>
          </a:prstGeom>
          <a:solidFill>
            <a:srgbClr val="E8F1F8"/>
          </a:solidFill>
          <a:ln/>
        </p:spPr>
      </p:sp>
      <p:sp>
        <p:nvSpPr>
          <p:cNvPr id="30" name="Text 28"/>
          <p:cNvSpPr/>
          <p:nvPr/>
        </p:nvSpPr>
        <p:spPr>
          <a:xfrm>
            <a:off x="8578901" y="4059936"/>
            <a:ext cx="26252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578901" y="4297680"/>
            <a:ext cx="262524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word-break: keep-all로 어절 단위 줄바꿈. 긴 URL 대비 overflow-wrap을 안전망으로 병행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687568"/>
            <a:ext cx="11057839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59536" y="5833872"/>
            <a:ext cx="104726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모두 '기능은 동작하는데 보기 불편한' 문제였다. 브라우저에서 실제 렌더링 폭을 측정해 원인을 특정하고, 수치로 확인한 뒤 종료했다.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내년에 코드를 열지 않아도 되게 만들었다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89888"/>
            <a:ext cx="6766560" cy="2487168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62763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098D9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627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53312" y="166420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구조 일반화 — 2027년 대비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9536" y="210312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연도가 ["2024","2025","2026"]으로 코드에 박혀 있었다. 내년 2027 시트가 추가된 파일을 올리면 조용히 무시될 상황이었다.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24912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워크북의 시트 이름에서 4자리 연도를 자동 인식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기준 연도는 DB에 적재된 최신 연도를 매번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차트·섹션 제목·다운로드 파일명까지 모두 연동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626096" y="1389888"/>
            <a:ext cx="3998671" cy="2487168"/>
          </a:xfrm>
          <a:prstGeom prst="roundRect">
            <a:avLst>
              <a:gd name="adj" fmla="val 2941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82128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실증 검증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882128" y="19202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 시트를 추가한 4개년 파일을 실제로 업로드해, 코드 수정 없이 전 화면이 자동 확장되는 것을 확인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882128" y="2596896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제목 → 4개년 (2024–2027)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차트 x축 → 2027까지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파일명 → ..._2027_리포트.html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059936"/>
            <a:ext cx="11057839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4297680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E8912D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33425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기록이 첫 문답만 남던 문제 — 원인은 쿠키 용량 한계였다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66928" y="4791456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956048"/>
            <a:ext cx="658368" cy="274320"/>
          </a:xfrm>
          <a:prstGeom prst="roundRect">
            <a:avLst>
              <a:gd name="adj" fmla="val 46667"/>
            </a:avLst>
          </a:prstGeom>
          <a:solidFill>
            <a:srgbClr val="C94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4956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303520"/>
            <a:ext cx="3064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리포트를 내려받으면 대화 기록에 최초 질문 1개만 남아 있음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44314" y="4791456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63770" y="4956048"/>
            <a:ext cx="658368" cy="274320"/>
          </a:xfrm>
          <a:prstGeom prst="roundRect">
            <a:avLst>
              <a:gd name="adj" fmla="val 46667"/>
            </a:avLst>
          </a:prstGeom>
          <a:solidFill>
            <a:srgbClr val="E8912D"/>
          </a:solidFill>
          <a:ln/>
        </p:spPr>
      </p:sp>
      <p:sp>
        <p:nvSpPr>
          <p:cNvPr id="25" name="Text 23"/>
          <p:cNvSpPr/>
          <p:nvPr/>
        </p:nvSpPr>
        <p:spPr>
          <a:xfrm>
            <a:off x="4563770" y="4956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63770" y="5303520"/>
            <a:ext cx="3064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Starlette 세션은 전체를 서명 쿠키에 담는 방식 — AI 답변 두어 개면 4KB 한계 초과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121701" y="4791456"/>
            <a:ext cx="3503066" cy="1371600"/>
          </a:xfrm>
          <a:prstGeom prst="roundRect">
            <a:avLst>
              <a:gd name="adj" fmla="val 4667"/>
            </a:avLst>
          </a:prstGeom>
          <a:solidFill>
            <a:srgbClr val="F5F7FB"/>
          </a:solidFill>
          <a:ln w="12700">
            <a:solidFill>
              <a:srgbClr val="DFE5E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41157" y="4956048"/>
            <a:ext cx="658368" cy="274320"/>
          </a:xfrm>
          <a:prstGeom prst="roundRect">
            <a:avLst>
              <a:gd name="adj" fmla="val 46667"/>
            </a:avLst>
          </a:prstGeom>
          <a:solidFill>
            <a:srgbClr val="00A950"/>
          </a:solidFill>
          <a:ln/>
        </p:spPr>
      </p:sp>
      <p:sp>
        <p:nvSpPr>
          <p:cNvPr id="29" name="Text 27"/>
          <p:cNvSpPr/>
          <p:nvPr/>
        </p:nvSpPr>
        <p:spPr>
          <a:xfrm>
            <a:off x="8341157" y="4956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341157" y="5303520"/>
            <a:ext cx="306415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대화를 chat_messages 테이블로 이전, 쿠키에는 짧은 세션 토큰만 유지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실제로 갈리는지 수치로 확인했다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89888"/>
            <a:ext cx="612648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59536" y="157276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부서별 긍정 응답 비중 (2026)</a:t>
            </a:r>
            <a:endParaRPr lang="en-US" sz="13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68096" y="1938528"/>
          <a:ext cx="5724144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912864" y="1389888"/>
            <a:ext cx="4711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전후 비교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912864" y="1792224"/>
            <a:ext cx="4711903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50608" y="1920240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더미 데이터 편차 주입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150608" y="2157984"/>
            <a:ext cx="4236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"비슷한 수준" 문구 비율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150608" y="23591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64%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339328" y="2468880"/>
            <a:ext cx="237744" cy="128016"/>
          </a:xfrm>
          <a:prstGeom prst="rightArrow">
            <a:avLst/>
          </a:prstGeom>
          <a:solidFill>
            <a:srgbClr val="65708A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0" y="2359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9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912864" y="2926080"/>
            <a:ext cx="4711903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150608" y="3054096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 저장 방식 전환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150608" y="3291840"/>
            <a:ext cx="4236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다운로드에 남는 문답 수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150608" y="3493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1턴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339328" y="3602736"/>
            <a:ext cx="237744" cy="128016"/>
          </a:xfrm>
          <a:prstGeom prst="rightArrow">
            <a:avLst/>
          </a:prstGeom>
          <a:solidFill>
            <a:srgbClr val="65708A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0" y="34930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9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912864" y="4059936"/>
            <a:ext cx="4711903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150608" y="4187952"/>
            <a:ext cx="4236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정렬 개선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150608" y="4425696"/>
            <a:ext cx="4236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문항별 막대 폭 편차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50608" y="4626864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339328" y="4736592"/>
            <a:ext cx="237744" cy="128016"/>
          </a:xfrm>
          <a:prstGeom prst="rightArrow">
            <a:avLst/>
          </a:prstGeom>
          <a:solidFill>
            <a:srgbClr val="65708A"/>
          </a:solidFill>
          <a:ln/>
        </p:spPr>
      </p:sp>
      <p:sp>
        <p:nvSpPr>
          <p:cNvPr id="26" name="Text 23"/>
          <p:cNvSpPr/>
          <p:nvPr/>
        </p:nvSpPr>
        <p:spPr>
          <a:xfrm>
            <a:off x="8686800" y="462686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95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1종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66928" y="5321808"/>
            <a:ext cx="11057839" cy="1024128"/>
          </a:xfrm>
          <a:prstGeom prst="roundRect">
            <a:avLst>
              <a:gd name="adj" fmla="val 7143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59536" y="5468112"/>
            <a:ext cx="1047262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중 "대부분의 답변이 비슷한 수준이라 단조롭다"는 피드백을 받고, 조직×중분류마다 목표 편차(±13~17%p)를 부여해 더미 데이터를 재생성했다. 편차는 대분류 안에서 상쇄되도록 설계해, 부서 전체 평균과 HR 화면의 부서 간 비교 결과는 그대로 유지된다.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프로토타입에서 운영형 웹앱으로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346649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645920"/>
            <a:ext cx="29178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" y="1901952"/>
            <a:ext cx="2917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41248" y="2377440"/>
            <a:ext cx="291785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단일 파일로 화면 구성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Plotly 차트 · st.session_state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직접 로드 + 캐시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문구와 화면 구성 검증에 사용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62602" y="1408176"/>
            <a:ext cx="346649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36922" y="1645920"/>
            <a:ext cx="29178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운영형 웹앱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6922" y="1901952"/>
            <a:ext cx="2917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 + SQLite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36922" y="2377440"/>
            <a:ext cx="291785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Jinja2 서버 렌더링 · 서명 쿠키 세션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Chart.js 로컬 번들 (오프라인 동작)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SQLite 5개 테이블 · 인덱스 기반 집계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업로드·세션·감사 로그까지 지원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58277" y="1408176"/>
            <a:ext cx="346649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32597" y="1645920"/>
            <a:ext cx="291785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계층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32597" y="1901952"/>
            <a:ext cx="29178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 + Tavily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32597" y="2377440"/>
            <a:ext cx="291785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 답변 (진단 컨텍스트 주입)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웹검색 기반 일반 자문 + 출처 표기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요약 서브 에이전트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키가 없으면 규칙 기반으로 자동 폴백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791456"/>
            <a:ext cx="2558720" cy="1097280"/>
          </a:xfrm>
          <a:prstGeom prst="roundRect">
            <a:avLst>
              <a:gd name="adj" fmla="val 6667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4672" y="4956048"/>
            <a:ext cx="210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5,033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04672" y="5431536"/>
            <a:ext cx="210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 (앱 코드)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99968" y="4791456"/>
            <a:ext cx="2558720" cy="1097280"/>
          </a:xfrm>
          <a:prstGeom prst="roundRect">
            <a:avLst>
              <a:gd name="adj" fmla="val 6667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37712" y="4956048"/>
            <a:ext cx="210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637712" y="5431536"/>
            <a:ext cx="210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33008" y="4791456"/>
            <a:ext cx="2558720" cy="1097280"/>
          </a:xfrm>
          <a:prstGeom prst="roundRect">
            <a:avLst>
              <a:gd name="adj" fmla="val 6667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70752" y="4956048"/>
            <a:ext cx="210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470752" y="5431536"/>
            <a:ext cx="210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화면·기능 문서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66047" y="4791456"/>
            <a:ext cx="2558720" cy="1097280"/>
          </a:xfrm>
          <a:prstGeom prst="roundRect">
            <a:avLst>
              <a:gd name="adj" fmla="val 6667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303791" y="4956048"/>
            <a:ext cx="210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43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37,248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303791" y="5431536"/>
            <a:ext cx="210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 응답 레코드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03504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데모, 운영으로 가려면 남은 것들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076127" y="6355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24528" y="1426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(데모)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90688" y="14264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전환 시 필요한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73936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19933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24528" y="201168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 선택 + 생년월일 6자리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534656" y="2103120"/>
            <a:ext cx="182880" cy="109728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11" name="Text 9"/>
          <p:cNvSpPr/>
          <p:nvPr/>
        </p:nvSpPr>
        <p:spPr>
          <a:xfrm>
            <a:off x="7790688" y="20116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SSO 연동 및 권한 매핑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633472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85292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24528" y="28712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더미 데이터 6개 부서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534656" y="2962656"/>
            <a:ext cx="182880" cy="109728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16" name="Text 14"/>
          <p:cNvSpPr/>
          <p:nvPr/>
        </p:nvSpPr>
        <p:spPr>
          <a:xfrm>
            <a:off x="7790688" y="287121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설문 결과 연동 및 조직 마스터 동기화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41248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24528" y="37307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SHA-256 해시 · 로컬 세션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34656" y="3822192"/>
            <a:ext cx="182880" cy="109728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21" name="Text 19"/>
          <p:cNvSpPr/>
          <p:nvPr/>
        </p:nvSpPr>
        <p:spPr>
          <a:xfrm>
            <a:off x="7790688" y="37307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bcrypt/argon2 · 서버 세션 스토어 · 전송 암호화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52544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E8F1F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41248" y="45720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비용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224528" y="45902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외부 API 호출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534656" y="4681728"/>
            <a:ext cx="182880" cy="109728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26" name="Text 24"/>
          <p:cNvSpPr/>
          <p:nvPr/>
        </p:nvSpPr>
        <p:spPr>
          <a:xfrm>
            <a:off x="7790688" y="459028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캐싱 및 호출량 상한 정책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5212080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41248" y="54315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224528" y="54498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프로세스 로컬 구동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534656" y="5541264"/>
            <a:ext cx="182880" cy="109728"/>
          </a:xfrm>
          <a:prstGeom prst="rightArrow">
            <a:avLst/>
          </a:prstGeom>
          <a:solidFill>
            <a:srgbClr val="0098D9"/>
          </a:solidFill>
          <a:ln/>
        </p:spPr>
      </p:sp>
      <p:sp>
        <p:nvSpPr>
          <p:cNvPr id="31" name="Text 29"/>
          <p:cNvSpPr/>
          <p:nvPr/>
        </p:nvSpPr>
        <p:spPr>
          <a:xfrm>
            <a:off x="7790688" y="54498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워커 구성 및 DB 이관(PostgreSQL 등)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6053328"/>
            <a:ext cx="11057839" cy="566928"/>
          </a:xfrm>
          <a:prstGeom prst="roundRect">
            <a:avLst>
              <a:gd name="adj" fmla="val 12903"/>
            </a:avLst>
          </a:prstGeom>
          <a:solidFill>
            <a:srgbClr val="FFF7E8"/>
          </a:solidFill>
          <a:ln w="12700">
            <a:solidFill>
              <a:srgbClr val="DFE5EF"/>
            </a:solidFill>
            <a:prstDash val="solid"/>
          </a:ln>
          <a:effectLst>
            <a:outerShdw sx="100000" sy="100000" kx="0" ky="0" algn="bl" rotWithShape="0" blurRad="127000" dist="25400" dir="5400000">
              <a:srgbClr val="8894A8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59536" y="6144768"/>
            <a:ext cx="96862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5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결과물은 사외 시연용 데모이며, 실제 설문 데이터가 아닌 합성 데이터를 사용했다.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2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004381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2194560"/>
            <a:ext cx="5120640" cy="5120640"/>
          </a:xfrm>
          <a:prstGeom prst="ellipse">
            <a:avLst/>
          </a:prstGeom>
          <a:solidFill>
            <a:srgbClr val="0098D9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009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프로젝트가 지킨 한 가지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9326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화면이 누군가를</a:t>
            </a:r>
            <a:endParaRPr lang="en-US" sz="3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평가하는 데 쓰이지 않는다"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66928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6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기능을 하나 더할지 판단이 설 때마다 이 기준으로 되돌아갔다. 점수를 넣지 않은 것도, 부서 간 비교를 없앤 것도, 개인을 특정하려는 질문을 거절하는 것도 모두 같은 이유에서 내린 결정이다.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0350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C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조직건강도 AI Agent  ·  프로젝트 수행 결과 보고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조직건강도 AI Agent 수행 결과</dc:title>
  <dc:subject>PptxGenJS Presentation</dc:subject>
  <dc:creator>AI활용전문가 과정</dc:creator>
  <cp:lastModifiedBy>AI활용전문가 과정</cp:lastModifiedBy>
  <cp:revision>1</cp:revision>
  <dcterms:created xsi:type="dcterms:W3CDTF">2026-08-05T05:14:44Z</dcterms:created>
  <dcterms:modified xsi:type="dcterms:W3CDTF">2026-08-05T05:14:44Z</dcterms:modified>
</cp:coreProperties>
</file>