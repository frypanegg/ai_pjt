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embedTrueTypeFonts="1">
  <p:sldMasterIdLst>
    <p:sldMasterId id="2147483648" r:id="rId3"/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2000"/>
  <p:notesSz cx="6858000" cy="12192000"/>
  <p:embeddedFontLst>
    <p:embeddedFont>
      <p:font typeface="Pretendard" panose="02000503000000020004" pitchFamily="2" charset="-127"/>
      <p:regular r:id="rId18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j1sfZNCMUGBhwX3cfSvfrMULz9g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customschemas.google.com/relationships/presentationmetadata" Target="meta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조직건강도 설문 결과를 부서장이 스스로 해석하고 구성원과의 대화 주제를 찾도록 돕는 웹 애플리케이션을 설계·구현한 프로젝트입니다.</a:t>
            </a:r>
            <a:endParaRPr/>
          </a:p>
        </p:txBody>
      </p:sp>
      <p:sp>
        <p:nvSpPr>
          <p:cNvPr id="71" name="Google Shape;71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한 장 요약. 무엇을 왜 만들었고, 어떤 원칙을 지켰는지.</a:t>
            </a:r>
            <a:endParaRPr/>
          </a:p>
        </p:txBody>
      </p:sp>
      <p:sp>
        <p:nvSpPr>
          <p:cNvPr id="82" name="Google Shape;8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이 6가지는 기획 문서(06_guardrails.md)에 정의되어 있으며, 이후 모든 구현 판단의 기준이 되었습니다.</a:t>
            </a:r>
            <a:endParaRPr/>
          </a:p>
        </p:txBody>
      </p:sp>
      <p:sp>
        <p:nvSpPr>
          <p:cNvPr id="115" name="Google Shape;11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원칙 → 데이터 → 화면 순서. 화면을 두 번 만든 것은 낭비가 아니라 검증 단계였습니다.</a:t>
            </a:r>
            <a:endParaRPr/>
          </a:p>
        </p:txBody>
      </p:sp>
      <p:sp>
        <p:nvSpPr>
          <p:cNvPr id="156" name="Google Shape;15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5단 구성. 요약에서 시작해 문항 근거까지 스크롤 한 번으로 내려갑니다.</a:t>
            </a:r>
            <a:endParaRPr/>
          </a:p>
        </p:txBody>
      </p:sp>
      <p:sp>
        <p:nvSpPr>
          <p:cNvPr id="188" name="Google Shape;18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질문 성격을 먼저 판별해 라우팅합니다. 키워드가 있다고 무조건 카드를 반복하지 않습니다.</a:t>
            </a:r>
            <a:endParaRPr/>
          </a:p>
        </p:txBody>
      </p:sp>
      <p:sp>
        <p:nvSpPr>
          <p:cNvPr id="224" name="Google Shape;22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HR 화면과 부서장 화면의 비교 허용 범위를 의도적으로 다르게 두었습니다.</a:t>
            </a:r>
            <a:endParaRPr/>
          </a:p>
        </p:txBody>
      </p:sp>
      <p:sp>
        <p:nvSpPr>
          <p:cNvPr id="261" name="Google Shape;26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실측 기반으로 원인을 찾고 고쳤다는 점이 핵심입니다.</a:t>
            </a:r>
            <a:endParaRPr/>
          </a:p>
        </p:txBody>
      </p:sp>
      <p:sp>
        <p:nvSpPr>
          <p:cNvPr id="293" name="Google Shape;29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1" name="Google Shape;32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두 버전 모두 저장소에 남아 있고, 해석 사전 모듈은 공유합니다.</a:t>
            </a:r>
            <a:endParaRPr/>
          </a:p>
        </p:txBody>
      </p:sp>
      <p:sp>
        <p:nvSpPr>
          <p:cNvPr id="322" name="Google Shape;32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데모와 운영의 간극을 솔직하게 정리했습니다.</a:t>
            </a:r>
            <a:endParaRPr/>
          </a:p>
        </p:txBody>
      </p:sp>
      <p:sp>
        <p:nvSpPr>
          <p:cNvPr id="346" name="Google Shape;34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f99736c1cc_0_128:notes"/>
          <p:cNvSpPr txBox="1"/>
          <p:nvPr>
            <p:ph idx="1" type="body"/>
          </p:nvPr>
        </p:nvSpPr>
        <p:spPr>
          <a:xfrm>
            <a:off x="685800" y="5791196"/>
            <a:ext cx="5486400" cy="5486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g3f99736c1cc_0_128:notes"/>
          <p:cNvSpPr/>
          <p:nvPr>
            <p:ph idx="2" type="sldImg"/>
          </p:nvPr>
        </p:nvSpPr>
        <p:spPr>
          <a:xfrm>
            <a:off x="1143374" y="914393"/>
            <a:ext cx="45711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bg>
      <p:bgPr>
        <a:blipFill>
          <a:blip r:embed="rId2">
            <a:alphaModFix amt="75000"/>
          </a:blip>
          <a:stretch>
            <a:fillRect/>
          </a:stretch>
        </a:blip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 " id="18" name="Google Shape;18;g3f99736c1cc_0_77"/>
          <p:cNvSpPr/>
          <p:nvPr/>
        </p:nvSpPr>
        <p:spPr>
          <a:xfrm>
            <a:off x="393698" y="387350"/>
            <a:ext cx="413400" cy="370500"/>
          </a:xfrm>
          <a:prstGeom prst="rect">
            <a:avLst/>
          </a:prstGeom>
          <a:noFill/>
          <a:ln>
            <a:noFill/>
          </a:ln>
        </p:spPr>
      </p:sp>
      <p:sp>
        <p:nvSpPr>
          <p:cNvPr descr=" " id="19" name="Google Shape;19;g3f99736c1cc_0_77"/>
          <p:cNvSpPr/>
          <p:nvPr/>
        </p:nvSpPr>
        <p:spPr>
          <a:xfrm>
            <a:off x="866529" y="423571"/>
            <a:ext cx="1146600" cy="177000"/>
          </a:xfrm>
          <a:prstGeom prst="rect">
            <a:avLst/>
          </a:prstGeom>
          <a:noFill/>
          <a:ln>
            <a:noFill/>
          </a:ln>
        </p:spPr>
      </p:sp>
      <p:sp>
        <p:nvSpPr>
          <p:cNvPr descr=" " id="20" name="Google Shape;20;g3f99736c1cc_0_77"/>
          <p:cNvSpPr/>
          <p:nvPr/>
        </p:nvSpPr>
        <p:spPr>
          <a:xfrm>
            <a:off x="771813" y="619978"/>
            <a:ext cx="1146600" cy="138000"/>
          </a:xfrm>
          <a:prstGeom prst="rect">
            <a:avLst/>
          </a:prstGeom>
          <a:noFill/>
          <a:ln>
            <a:noFill/>
          </a:ln>
        </p:spPr>
      </p:sp>
      <p:sp>
        <p:nvSpPr>
          <p:cNvPr id="21" name="Google Shape;21;g3f99736c1cc_0_77"/>
          <p:cNvSpPr txBox="1"/>
          <p:nvPr>
            <p:ph type="ctrTitle"/>
          </p:nvPr>
        </p:nvSpPr>
        <p:spPr>
          <a:xfrm>
            <a:off x="771813" y="1855385"/>
            <a:ext cx="9144600" cy="9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700"/>
              <a:buFont typeface="Arial"/>
              <a:buNone/>
              <a:defRPr sz="57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22" name="Google Shape;22;g3f99736c1cc_0_77"/>
          <p:cNvSpPr txBox="1"/>
          <p:nvPr>
            <p:ph idx="1" type="subTitle"/>
          </p:nvPr>
        </p:nvSpPr>
        <p:spPr>
          <a:xfrm>
            <a:off x="771812" y="3430624"/>
            <a:ext cx="9144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2pPr>
            <a:lvl3pPr lvl="2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lvl="3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lvl="4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lvl="5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lvl="6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lvl="7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lvl="8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>
  <p:cSld name="빈 화면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g3f99736c1cc_0_83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25" name="Google Shape;25;g3f99736c1cc_0_83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26" name="Google Shape;26;g3f99736c1cc_0_83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7" name="Google Shape;27;g3f99736c1cc_0_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4797" y="393167"/>
            <a:ext cx="1642034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g3f99736c1cc_0_83"/>
          <p:cNvSpPr txBox="1"/>
          <p:nvPr>
            <p:ph type="title"/>
          </p:nvPr>
        </p:nvSpPr>
        <p:spPr>
          <a:xfrm>
            <a:off x="838091" y="2766218"/>
            <a:ext cx="10515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bg>
      <p:bgPr>
        <a:blipFill>
          <a:blip r:embed="rId2">
            <a:alphaModFix amt="80000"/>
          </a:blip>
          <a:stretch>
            <a:fillRect/>
          </a:stretch>
        </a:blip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g3f99736c1cc_0_89"/>
          <p:cNvSpPr txBox="1"/>
          <p:nvPr>
            <p:ph type="title"/>
          </p:nvPr>
        </p:nvSpPr>
        <p:spPr>
          <a:xfrm>
            <a:off x="1266279" y="1147572"/>
            <a:ext cx="98616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1" name="Google Shape;31;g3f99736c1cc_0_89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2" name="Google Shape;32;g3f99736c1cc_0_89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3" name="Google Shape;33;g3f99736c1cc_0_89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 " id="34" name="Google Shape;34;g3f99736c1cc_0_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1046" y="1223963"/>
            <a:ext cx="342898" cy="39364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g3f99736c1cc_0_89"/>
          <p:cNvSpPr/>
          <p:nvPr/>
        </p:nvSpPr>
        <p:spPr>
          <a:xfrm>
            <a:off x="469897" y="317500"/>
            <a:ext cx="3740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3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‘26-2차 포스코그룹 AI활용전문가 과정</a:t>
            </a:r>
            <a:endParaRPr b="0" i="0" sz="1600" u="none" cap="none" strike="noStrik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제목만">
  <p:cSld name="3_제목만">
    <p:bg>
      <p:bgPr>
        <a:solidFill>
          <a:srgbClr val="F7F9F8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99736c1cc_0_96"/>
          <p:cNvSpPr txBox="1"/>
          <p:nvPr>
            <p:ph type="title"/>
          </p:nvPr>
        </p:nvSpPr>
        <p:spPr>
          <a:xfrm>
            <a:off x="1266279" y="1147572"/>
            <a:ext cx="98616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8" name="Google Shape;38;g3f99736c1cc_0_96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9" name="Google Shape;39;g3f99736c1cc_0_96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40" name="Google Shape;40;g3f99736c1cc_0_96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g3f99736c1cc_0_96"/>
          <p:cNvSpPr txBox="1"/>
          <p:nvPr>
            <p:ph idx="1" type="body"/>
          </p:nvPr>
        </p:nvSpPr>
        <p:spPr>
          <a:xfrm>
            <a:off x="1266279" y="1819421"/>
            <a:ext cx="57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00" spcFirstLastPara="1" rIns="45700" wrap="square" tIns="2285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Arial"/>
                <a:ea typeface="Arial"/>
                <a:cs typeface="Arial"/>
                <a:sym typeface="Arial"/>
              </a:defRPr>
            </a:lvl1pPr>
            <a:lvl2pPr indent="-28575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2pPr>
            <a:lvl3pPr indent="-28575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4pPr>
            <a:lvl5pPr indent="-28575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5pPr>
            <a:lvl6pPr indent="-28575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pic>
        <p:nvPicPr>
          <p:cNvPr descr=" " id="42" name="Google Shape;42;g3f99736c1cc_0_9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1046" y="1223963"/>
            <a:ext cx="342898" cy="39364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g3f99736c1cc_0_96"/>
          <p:cNvSpPr/>
          <p:nvPr/>
        </p:nvSpPr>
        <p:spPr>
          <a:xfrm>
            <a:off x="469897" y="317500"/>
            <a:ext cx="3740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3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‘26-2차 포스코그룹 AI활용전문가 과정</a:t>
            </a:r>
            <a:endParaRPr b="0" i="0" sz="1600" u="none" cap="none" strike="noStrik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제목만">
  <p:cSld name="5_제목만">
    <p:bg>
      <p:bgPr>
        <a:solidFill>
          <a:srgbClr val="F7F9F8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99736c1cc_0_104"/>
          <p:cNvSpPr txBox="1"/>
          <p:nvPr>
            <p:ph type="title"/>
          </p:nvPr>
        </p:nvSpPr>
        <p:spPr>
          <a:xfrm>
            <a:off x="1266279" y="1147572"/>
            <a:ext cx="98616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46" name="Google Shape;46;g3f99736c1cc_0_104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47" name="Google Shape;47;g3f99736c1cc_0_104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48" name="Google Shape;48;g3f99736c1cc_0_104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" name="Google Shape;49;g3f99736c1cc_0_104"/>
          <p:cNvSpPr txBox="1"/>
          <p:nvPr>
            <p:ph idx="1" type="body"/>
          </p:nvPr>
        </p:nvSpPr>
        <p:spPr>
          <a:xfrm>
            <a:off x="1266279" y="1819421"/>
            <a:ext cx="9861600" cy="41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00" spcFirstLastPara="1" rIns="45700" wrap="square" tIns="22850">
            <a:normAutofit/>
          </a:bodyPr>
          <a:lstStyle>
            <a:lvl1pPr indent="-228600" lvl="0" marL="457200" algn="l">
              <a:lnSpc>
                <a:spcPct val="114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b="0" i="0" sz="2200">
                <a:latin typeface="Arial"/>
                <a:ea typeface="Arial"/>
                <a:cs typeface="Arial"/>
                <a:sym typeface="Arial"/>
              </a:defRPr>
            </a:lvl1pPr>
            <a:lvl2pPr indent="-28575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2pPr>
            <a:lvl3pPr indent="-28575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4pPr>
            <a:lvl5pPr indent="-28575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5pPr>
            <a:lvl6pPr indent="-28575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pic>
        <p:nvPicPr>
          <p:cNvPr descr=" " id="50" name="Google Shape;50;g3f99736c1cc_0_10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1046" y="1223963"/>
            <a:ext cx="342898" cy="39364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g3f99736c1cc_0_104"/>
          <p:cNvSpPr/>
          <p:nvPr/>
        </p:nvSpPr>
        <p:spPr>
          <a:xfrm>
            <a:off x="469897" y="317500"/>
            <a:ext cx="3740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3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‘26-2차 포스코그룹 AI활용전문가 과정</a:t>
            </a:r>
            <a:endParaRPr b="0" i="0" sz="1600" u="none" cap="none" strike="noStrik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제목만">
  <p:cSld name="7_제목만">
    <p:bg>
      <p:bgPr>
        <a:solidFill>
          <a:srgbClr val="F7F9F8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99736c1cc_0_112"/>
          <p:cNvSpPr txBox="1"/>
          <p:nvPr>
            <p:ph type="title"/>
          </p:nvPr>
        </p:nvSpPr>
        <p:spPr>
          <a:xfrm>
            <a:off x="781046" y="2188351"/>
            <a:ext cx="32580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4" name="Google Shape;54;g3f99736c1cc_0_112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5" name="Google Shape;55;g3f99736c1cc_0_112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6" name="Google Shape;56;g3f99736c1cc_0_112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7" name="Google Shape;57;g3f99736c1cc_0_112"/>
          <p:cNvSpPr txBox="1"/>
          <p:nvPr>
            <p:ph idx="1" type="body"/>
          </p:nvPr>
        </p:nvSpPr>
        <p:spPr>
          <a:xfrm>
            <a:off x="781046" y="2860200"/>
            <a:ext cx="3258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00" spcFirstLastPara="1" rIns="45700" wrap="square" tIns="2285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Arial"/>
                <a:ea typeface="Arial"/>
                <a:cs typeface="Arial"/>
                <a:sym typeface="Arial"/>
              </a:defRPr>
            </a:lvl1pPr>
            <a:lvl2pPr indent="-28575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2pPr>
            <a:lvl3pPr indent="-28575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4pPr>
            <a:lvl5pPr indent="-28575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5pPr>
            <a:lvl6pPr indent="-28575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pic>
        <p:nvPicPr>
          <p:cNvPr descr=" " id="58" name="Google Shape;58;g3f99736c1cc_0_1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1046" y="1223963"/>
            <a:ext cx="342898" cy="393649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g3f99736c1cc_0_112"/>
          <p:cNvSpPr/>
          <p:nvPr/>
        </p:nvSpPr>
        <p:spPr>
          <a:xfrm>
            <a:off x="469897" y="317500"/>
            <a:ext cx="3740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3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‘26-2차 포스코그룹 AI활용전문가 과정</a:t>
            </a:r>
            <a:endParaRPr b="0" i="0" sz="1600" u="none" cap="none" strike="noStrik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제목만">
  <p:cSld name="4_제목만">
    <p:bg>
      <p:bgPr>
        <a:solidFill>
          <a:srgbClr val="F7F9F8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99736c1cc_0_120"/>
          <p:cNvSpPr txBox="1"/>
          <p:nvPr>
            <p:ph type="title"/>
          </p:nvPr>
        </p:nvSpPr>
        <p:spPr>
          <a:xfrm>
            <a:off x="1266279" y="1147572"/>
            <a:ext cx="98616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2" name="Google Shape;62;g3f99736c1cc_0_120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3" name="Google Shape;63;g3f99736c1cc_0_120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4" name="Google Shape;64;g3f99736c1cc_0_120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5" name="Google Shape;65;g3f99736c1cc_0_120"/>
          <p:cNvSpPr txBox="1"/>
          <p:nvPr>
            <p:ph idx="1" type="body"/>
          </p:nvPr>
        </p:nvSpPr>
        <p:spPr>
          <a:xfrm>
            <a:off x="1266279" y="1730930"/>
            <a:ext cx="57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00" spcFirstLastPara="1" rIns="45700" wrap="square" tIns="2285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Arial"/>
                <a:ea typeface="Arial"/>
                <a:cs typeface="Arial"/>
                <a:sym typeface="Arial"/>
              </a:defRPr>
            </a:lvl1pPr>
            <a:lvl2pPr indent="-28575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2pPr>
            <a:lvl3pPr indent="-28575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4pPr>
            <a:lvl5pPr indent="-28575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5pPr>
            <a:lvl6pPr indent="-28575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pic>
        <p:nvPicPr>
          <p:cNvPr descr=" " id="66" name="Google Shape;66;g3f99736c1cc_0_1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1046" y="1223963"/>
            <a:ext cx="342898" cy="393649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g3f99736c1cc_0_120"/>
          <p:cNvSpPr/>
          <p:nvPr/>
        </p:nvSpPr>
        <p:spPr>
          <a:xfrm>
            <a:off x="469897" y="317500"/>
            <a:ext cx="3740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3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‘26-2차 포스코그룹 AI활용전문가 과정</a:t>
            </a:r>
            <a:endParaRPr b="0" i="0" sz="1600" u="none" cap="none" strike="noStrik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f99736c1cc_0_71"/>
          <p:cNvSpPr txBox="1"/>
          <p:nvPr>
            <p:ph type="title"/>
          </p:nvPr>
        </p:nvSpPr>
        <p:spPr>
          <a:xfrm>
            <a:off x="838091" y="365125"/>
            <a:ext cx="10515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algun Gothic"/>
              <a:buNone/>
              <a:defRPr b="0" i="0" sz="2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9pPr>
          </a:lstStyle>
          <a:p/>
        </p:txBody>
      </p:sp>
      <p:sp>
        <p:nvSpPr>
          <p:cNvPr id="13" name="Google Shape;13;g3f99736c1cc_0_71"/>
          <p:cNvSpPr txBox="1"/>
          <p:nvPr>
            <p:ph idx="1" type="body"/>
          </p:nvPr>
        </p:nvSpPr>
        <p:spPr>
          <a:xfrm>
            <a:off x="838091" y="1825625"/>
            <a:ext cx="10515900" cy="43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00" spcFirstLastPara="1" rIns="45700" wrap="square" tIns="22850">
            <a:normAutofit/>
          </a:bodyPr>
          <a:lstStyle>
            <a:lvl1pPr indent="-317500" lvl="0" marL="457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04800" lvl="1" marL="9144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92100" lvl="2" marL="13716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85750" lvl="3" marL="18288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85750" lvl="4" marL="22860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85750" lvl="6" marL="32004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85750" lvl="7" marL="36576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85750" lvl="8" marL="41148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g3f99736c1cc_0_71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6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5" name="Google Shape;15;g3f99736c1cc_0_71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6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6" name="Google Shape;16;g3f99736c1cc_0_71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 amt="75000"/>
          </a:blip>
          <a:stretch>
            <a:fillRect/>
          </a:stretch>
        </a:blip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1"/>
          <p:cNvGrpSpPr/>
          <p:nvPr/>
        </p:nvGrpSpPr>
        <p:grpSpPr>
          <a:xfrm>
            <a:off x="393749" y="387350"/>
            <a:ext cx="1619453" cy="370533"/>
            <a:chOff x="393749" y="387350"/>
            <a:chExt cx="1619453" cy="370533"/>
          </a:xfrm>
        </p:grpSpPr>
        <p:pic>
          <p:nvPicPr>
            <p:cNvPr descr="mark.png" id="74" name="Google Shape;74;p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393749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75" name="Google Shape;75;p1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866642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76" name="Google Shape;76;p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771913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7" name="Google Shape;77;p1"/>
          <p:cNvSpPr txBox="1"/>
          <p:nvPr/>
        </p:nvSpPr>
        <p:spPr>
          <a:xfrm>
            <a:off x="926043" y="1295183"/>
            <a:ext cx="9145588" cy="188370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sym typeface="Arial"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조직건강도 </a:t>
            </a:r>
            <a:r>
              <a:rPr b="1" lang="en-US" sz="44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진단 </a:t>
            </a:r>
            <a:r>
              <a:rPr b="1" i="0" lang="en-US" sz="4400" u="none" cap="none" strike="noStrike">
                <a:solidFill>
                  <a:srgbClr val="000000"/>
                </a:solidFill>
                <a:sym typeface="Arial"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AI Agent 개발 결과</a:t>
            </a:r>
            <a:endParaRPr/>
          </a:p>
        </p:txBody>
      </p:sp>
      <p:sp>
        <p:nvSpPr>
          <p:cNvPr id="78" name="Google Shape;78;p1"/>
          <p:cNvSpPr txBox="1"/>
          <p:nvPr/>
        </p:nvSpPr>
        <p:spPr>
          <a:xfrm>
            <a:off x="926043" y="4479418"/>
            <a:ext cx="6253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E2841"/>
                </a:solidFill>
                <a:sym typeface="Arial"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포스코</a:t>
            </a:r>
            <a:endParaRPr b="1" sz="3000">
              <a:solidFill>
                <a:srgbClr val="0E284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E2841"/>
                </a:solidFill>
                <a:sym typeface="Arial"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곽경제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"/>
          <p:cNvSpPr/>
          <p:nvPr/>
        </p:nvSpPr>
        <p:spPr>
          <a:xfrm>
            <a:off x="566928" y="365760"/>
            <a:ext cx="11057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EXECUTIVE SUMMARY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평가 도구가 아닌, 대화를 여는 진단 리포트</a:t>
            </a:r>
            <a:r>
              <a:rPr b="1" lang="en-US" sz="3000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제공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2"/>
          <p:cNvSpPr/>
          <p:nvPr/>
        </p:nvSpPr>
        <p:spPr>
          <a:xfrm>
            <a:off x="566928" y="1371600"/>
            <a:ext cx="11057839" cy="1298448"/>
          </a:xfrm>
          <a:prstGeom prst="roundRect">
            <a:avLst>
              <a:gd fmla="val 5634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/>
          <p:cNvSpPr/>
          <p:nvPr/>
        </p:nvSpPr>
        <p:spPr>
          <a:xfrm>
            <a:off x="859536" y="1536192"/>
            <a:ext cx="10472623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962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0" i="0" lang="en-US" sz="15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설문 결과</a:t>
            </a:r>
            <a:r>
              <a:rPr lang="en-US" sz="15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명쾌하게 해석하기 어려운 Data </a:t>
            </a:r>
            <a:r>
              <a:rPr b="0" i="0" lang="en-US" sz="15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그 엑셀을 부서장이 혼자서도 해석할 수 있는 웹 리포트로 전환하되, 데이터 처리부터 문장 생성까지 일관되게 관철하는 것이 목표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2"/>
          <p:cNvSpPr/>
          <p:nvPr/>
        </p:nvSpPr>
        <p:spPr>
          <a:xfrm>
            <a:off x="566925" y="2889499"/>
            <a:ext cx="2517600" cy="204210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"/>
          <p:cNvSpPr/>
          <p:nvPr/>
        </p:nvSpPr>
        <p:spPr>
          <a:xfrm>
            <a:off x="804672" y="3122132"/>
            <a:ext cx="2060400" cy="8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2"/>
          <p:cNvSpPr/>
          <p:nvPr/>
        </p:nvSpPr>
        <p:spPr>
          <a:xfrm>
            <a:off x="1178886" y="3435849"/>
            <a:ext cx="20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 사용자 화면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/>
          <p:nvPr/>
        </p:nvSpPr>
        <p:spPr>
          <a:xfrm>
            <a:off x="969528" y="4035509"/>
            <a:ext cx="206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리포트 · </a:t>
            </a:r>
            <a:b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관리자</a:t>
            </a:r>
            <a:endParaRPr b="1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2"/>
          <p:cNvSpPr/>
          <p:nvPr/>
        </p:nvSpPr>
        <p:spPr>
          <a:xfrm>
            <a:off x="3413684" y="2889499"/>
            <a:ext cx="2517600" cy="204210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3651428" y="3122132"/>
            <a:ext cx="2060400" cy="8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"/>
          <p:cNvSpPr/>
          <p:nvPr/>
        </p:nvSpPr>
        <p:spPr>
          <a:xfrm>
            <a:off x="4025642" y="3435849"/>
            <a:ext cx="20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 구성 리포트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3668590" y="4017220"/>
            <a:ext cx="2324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요약 → 영역 → 문항</a:t>
            </a:r>
            <a:b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추이 → </a:t>
            </a:r>
            <a:r>
              <a:rPr b="1" lang="en-US" sz="1550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상담</a:t>
            </a:r>
            <a:endParaRPr b="1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6260443" y="2889499"/>
            <a:ext cx="2517600" cy="204210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/>
          <p:nvPr/>
        </p:nvSpPr>
        <p:spPr>
          <a:xfrm>
            <a:off x="6498184" y="3122132"/>
            <a:ext cx="2060400" cy="8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A950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00A950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6872398" y="3435849"/>
            <a:ext cx="20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 AI 라우팅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6458979" y="4026368"/>
            <a:ext cx="24345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규칙 · 데이터근거 LLM · 웹검색</a:t>
            </a:r>
            <a:endParaRPr b="1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9107200" y="2889499"/>
            <a:ext cx="2517600" cy="204210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9344939" y="3122132"/>
            <a:ext cx="2060400" cy="8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912D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E8912D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9719153" y="3435849"/>
            <a:ext cx="20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 원칙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9619699" y="4035509"/>
            <a:ext cx="206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코드로 강제한 가드레일</a:t>
            </a:r>
            <a:endParaRPr b="1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566928" y="5062170"/>
            <a:ext cx="11057700" cy="1206900"/>
          </a:xfrm>
          <a:prstGeom prst="roundRect">
            <a:avLst>
              <a:gd fmla="val 6061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2852928" y="5190186"/>
            <a:ext cx="8406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56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Char char="•"/>
            </a:pPr>
            <a:r>
              <a:rPr b="0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Streamlit 프로토타입으로 개념 검증 후 FastAPI + SQLite 웹앱으로 전환하는 단계적 접근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Char char="•"/>
            </a:pPr>
            <a:r>
              <a:rPr lang="en-US" sz="13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추후 연도별 Data가 추</a:t>
            </a:r>
            <a:r>
              <a:rPr b="0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 되어도 코드 수정 없이 동작하도록 연도 구조 일반화</a:t>
            </a:r>
            <a:endParaRPr b="0" i="0" sz="1350" u="none" cap="none" strike="noStrike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55600" lvl="0" marL="342900" rtl="0" algn="l">
              <a:spcBef>
                <a:spcPts val="50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Char char="•"/>
            </a:pPr>
            <a:r>
              <a:rPr lang="en-US" sz="13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 목적에 부합한 원칙(부서 간 비교 지양)을 전체적으로 반영</a:t>
            </a:r>
            <a:endParaRPr sz="13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966860" y="5510224"/>
            <a:ext cx="1828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lang="en-US" sz="1550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착안 사항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8" name="Google Shape;108;p2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109" name="Google Shape;10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110" name="Google Shape;11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111" name="Google Shape;111;p2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PROBLEM DEFINITION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숫자를 주는 것보다 오해를 막는 것이 더 어려운 과제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566928" y="1371600"/>
            <a:ext cx="5230368" cy="2148840"/>
          </a:xfrm>
          <a:prstGeom prst="roundRect">
            <a:avLst>
              <a:gd fmla="val 3404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841248" y="1609344"/>
            <a:ext cx="365760" cy="365760"/>
          </a:xfrm>
          <a:prstGeom prst="roundRect">
            <a:avLst>
              <a:gd fmla="val 2500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841248" y="160934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!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1316736" y="1627632"/>
            <a:ext cx="2743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500"/>
              <a:buFont typeface="Malgun Gothic"/>
              <a:buNone/>
            </a:pPr>
            <a:r>
              <a:rPr b="1" lang="en-US" sz="170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현황 및 이슈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877824" y="2103120"/>
            <a:ext cx="4626864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56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450"/>
              <a:buFont typeface="Malgun Gothic"/>
              <a:buChar char="•"/>
            </a:pP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설문 결과가 연도별 엑셀 파일로 존재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450"/>
              <a:buFont typeface="Malgun Gothic"/>
              <a:buChar char="•"/>
            </a:pP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</a:t>
            </a:r>
            <a: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에게 긍정/중립/부정 응답 비율만 전달되어</a:t>
            </a:r>
            <a:b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숫자의 의미를 판단하기 어려움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450"/>
              <a:buFont typeface="Malgun Gothic"/>
              <a:buChar char="•"/>
            </a:pP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잘못 쓰이면 조직</a:t>
            </a:r>
            <a: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간 비교, </a:t>
            </a: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평가 도구가 될 </a:t>
            </a:r>
            <a: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Risk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6053328" y="1371600"/>
            <a:ext cx="5568696" cy="2148840"/>
          </a:xfrm>
          <a:prstGeom prst="roundRect">
            <a:avLst>
              <a:gd fmla="val 3404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6327648" y="1609344"/>
            <a:ext cx="365760" cy="365760"/>
          </a:xfrm>
          <a:prstGeom prst="roundRect">
            <a:avLst>
              <a:gd fmla="val 25000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6327648" y="160934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6364225" y="2103125"/>
            <a:ext cx="52605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56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450"/>
              <a:buFont typeface="Malgun Gothic"/>
              <a:buChar char="•"/>
            </a:pP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— </a:t>
            </a:r>
            <a: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조직 건강도 진단 Data </a:t>
            </a: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해석과 </a:t>
            </a:r>
            <a: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코칭 </a:t>
            </a: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제공</a:t>
            </a:r>
            <a:endParaRPr b="0" i="0" sz="1450" u="none" cap="none" strike="noStrike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45720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* AI 챗봇 도입으로 건강한 조직 운영을 위한 촉진자 배정</a:t>
            </a:r>
            <a:endParaRPr sz="14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55600" lvl="0" marL="3429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450"/>
              <a:buFont typeface="Malgun Gothic"/>
              <a:buChar char="•"/>
            </a:pP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관리자 — Raw Data 관리와 전사 현황 점검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6803136" y="1627632"/>
            <a:ext cx="2743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5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설계 방향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566928" y="3767328"/>
            <a:ext cx="11057839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5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코드로 강제해야 했던 6가지 제약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566928" y="4308691"/>
            <a:ext cx="3503100" cy="896100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786384" y="4436707"/>
            <a:ext cx="306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점수 미제공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786384" y="4711027"/>
            <a:ext cx="30642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총점·지수 형태의 수치를 만들지 않음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4344314" y="4308691"/>
            <a:ext cx="3503100" cy="896100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3"/>
          <p:cNvSpPr/>
          <p:nvPr/>
        </p:nvSpPr>
        <p:spPr>
          <a:xfrm>
            <a:off x="4563770" y="4436707"/>
            <a:ext cx="306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등급·순위 미제공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/>
          <p:nvPr/>
        </p:nvSpPr>
        <p:spPr>
          <a:xfrm>
            <a:off x="4563775" y="4711039"/>
            <a:ext cx="33198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A/B/C 등급이나 부서 순위를 표시하지 않음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/>
          <p:nvPr/>
        </p:nvSpPr>
        <p:spPr>
          <a:xfrm>
            <a:off x="8121701" y="4308691"/>
            <a:ext cx="3503100" cy="896100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3"/>
          <p:cNvSpPr/>
          <p:nvPr/>
        </p:nvSpPr>
        <p:spPr>
          <a:xfrm>
            <a:off x="8341157" y="4436707"/>
            <a:ext cx="306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 원문 미노출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8341157" y="4711027"/>
            <a:ext cx="30642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주관식은 반복 경향만 요약해 제시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566928" y="5332819"/>
            <a:ext cx="3503100" cy="896100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786384" y="5460835"/>
            <a:ext cx="306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소수 응답 보호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786384" y="5735155"/>
            <a:ext cx="30642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응답 10명 미만 조직은 결과를 비공개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4344314" y="5332819"/>
            <a:ext cx="3503100" cy="896100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4563770" y="5460835"/>
            <a:ext cx="306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평가성 표현 금지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4563770" y="5735155"/>
            <a:ext cx="30642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'문제가 있다', '실패했다' 류 문장 미사용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8121701" y="5332819"/>
            <a:ext cx="3503100" cy="896100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8341157" y="5460835"/>
            <a:ext cx="306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 간 비교 지양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8341157" y="5735155"/>
            <a:ext cx="30642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화면에서 타 부서·전사 평균과 비교하지 않음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9" name="Google Shape;149;p3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150" name="Google Shape;150;p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151" name="Google Shape;151;p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152" name="Google Shape;152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APPROACH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 고정하고, </a:t>
            </a:r>
            <a:r>
              <a:rPr b="1" lang="en-US" sz="3000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파이프라인, 화면 </a:t>
            </a: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4"/>
          <p:cNvSpPr/>
          <p:nvPr/>
        </p:nvSpPr>
        <p:spPr>
          <a:xfrm>
            <a:off x="566928" y="1463040"/>
            <a:ext cx="3429914" cy="3977640"/>
          </a:xfrm>
          <a:prstGeom prst="roundRect">
            <a:avLst>
              <a:gd fmla="val 213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841248" y="1719072"/>
            <a:ext cx="475488" cy="475488"/>
          </a:xfrm>
          <a:prstGeom prst="roundRect">
            <a:avLst>
              <a:gd fmla="val 19231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4"/>
          <p:cNvSpPr/>
          <p:nvPr/>
        </p:nvSpPr>
        <p:spPr>
          <a:xfrm>
            <a:off x="841248" y="17190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841248" y="2340864"/>
            <a:ext cx="288127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원칙과 사전 정의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4"/>
          <p:cNvSpPr/>
          <p:nvPr/>
        </p:nvSpPr>
        <p:spPr>
          <a:xfrm>
            <a:off x="841248" y="2670048"/>
            <a:ext cx="288127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13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50"/>
              <a:buFont typeface="Malgun Gothic"/>
              <a:buNone/>
            </a:pPr>
            <a:r>
              <a:rPr b="0" i="0" lang="en-US" sz="13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해석 사전과 가드레일을 문서로 확정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"/>
          <p:cNvSpPr/>
          <p:nvPr/>
        </p:nvSpPr>
        <p:spPr>
          <a:xfrm>
            <a:off x="4070000" y="3065976"/>
            <a:ext cx="237600" cy="6894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4"/>
          <p:cNvSpPr/>
          <p:nvPr/>
        </p:nvSpPr>
        <p:spPr>
          <a:xfrm>
            <a:off x="841248" y="3200400"/>
            <a:ext cx="288127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14개 영역별 긍정·중립·부정 해석 문장 사전화</a:t>
            </a:r>
            <a:endParaRPr sz="12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lang="en-US" sz="12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문항 32개 → 중분류 14개 → 대분류 2개로 진단 문항 매핑</a:t>
            </a:r>
            <a:endParaRPr sz="12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금지 표현 / 권장 표현 목록 작성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4"/>
          <p:cNvSpPr/>
          <p:nvPr/>
        </p:nvSpPr>
        <p:spPr>
          <a:xfrm>
            <a:off x="4380890" y="1463040"/>
            <a:ext cx="3429914" cy="3977640"/>
          </a:xfrm>
          <a:prstGeom prst="roundRect">
            <a:avLst>
              <a:gd fmla="val 213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4"/>
          <p:cNvSpPr/>
          <p:nvPr/>
        </p:nvSpPr>
        <p:spPr>
          <a:xfrm>
            <a:off x="4655210" y="1719072"/>
            <a:ext cx="475488" cy="475488"/>
          </a:xfrm>
          <a:prstGeom prst="roundRect">
            <a:avLst>
              <a:gd fmla="val 19231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4655210" y="1719072"/>
            <a:ext cx="475488" cy="475488"/>
          </a:xfrm>
          <a:prstGeom prst="rect">
            <a:avLst/>
          </a:prstGeom>
          <a:solidFill>
            <a:srgbClr val="3D85C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4655210" y="2340864"/>
            <a:ext cx="288127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파이프라인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/>
          <p:nvPr/>
        </p:nvSpPr>
        <p:spPr>
          <a:xfrm>
            <a:off x="4655210" y="2670048"/>
            <a:ext cx="288127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13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50"/>
              <a:buFont typeface="Malgun Gothic"/>
              <a:buNone/>
            </a:pPr>
            <a:r>
              <a:rPr b="0" i="0" lang="en-US" sz="13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엑셀을 분석 가능한 구조로 정규화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4655210" y="3200400"/>
            <a:ext cx="288127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lang="en-US" sz="12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더미 Data 제작</a:t>
            </a:r>
            <a:endParaRPr sz="12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연도별 시트 → long format 변환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3429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SQLite 5개 테이블 적재 (37,248건)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업로드 시 동일 파이프라인 재사용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7883956" y="3065976"/>
            <a:ext cx="237600" cy="6894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8194853" y="1463040"/>
            <a:ext cx="3429914" cy="3977640"/>
          </a:xfrm>
          <a:prstGeom prst="roundRect">
            <a:avLst>
              <a:gd fmla="val 213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8469173" y="1719072"/>
            <a:ext cx="475488" cy="475488"/>
          </a:xfrm>
          <a:prstGeom prst="roundRect">
            <a:avLst>
              <a:gd fmla="val 19231" name="adj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"/>
          <p:cNvSpPr/>
          <p:nvPr/>
        </p:nvSpPr>
        <p:spPr>
          <a:xfrm>
            <a:off x="8469173" y="17190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8469173" y="2340864"/>
            <a:ext cx="288127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화면과 AI 구현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8469173" y="2670048"/>
            <a:ext cx="288127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13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50"/>
              <a:buFont typeface="Malgun Gothic"/>
              <a:buNone/>
            </a:pPr>
            <a:r>
              <a:rPr b="0" i="0" lang="en-US" sz="13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 검증 후 웹앱으로 전환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8469173" y="3200400"/>
            <a:ext cx="288127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Streamlit으로 </a:t>
            </a:r>
            <a:r>
              <a:rPr lang="en-US" sz="12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 </a:t>
            </a: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구성</a:t>
            </a:r>
            <a:endParaRPr sz="12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lang="en-US" sz="12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디자인 요소 반영(Stitch)</a:t>
            </a:r>
            <a:endParaRPr sz="12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Fa</a:t>
            </a: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stAPI + SQLite로 재구축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1" name="Google Shape;181;p4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182" name="Google Shape;182;p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183" name="Google Shape;183;p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184" name="Google Shape;184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FEATURE 01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리포트 — 위에서 아래로 읽으면 근거까지 도달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:\Users\admin\Desktop\AI 활용 전문가\프로젝트과제\Org_health_diag\docs\shots\02_report_hero.png" id="193" name="Google Shape;19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6928" y="1389888"/>
            <a:ext cx="6400800" cy="4050792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5"/>
          <p:cNvSpPr/>
          <p:nvPr/>
        </p:nvSpPr>
        <p:spPr>
          <a:xfrm>
            <a:off x="566928" y="1389888"/>
            <a:ext cx="6400800" cy="4050792"/>
          </a:xfrm>
          <a:prstGeom prst="roundRect">
            <a:avLst>
              <a:gd fmla="val 903" name="adj"/>
            </a:avLst>
          </a:prstGeom>
          <a:noFill/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7260336" y="138988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7260336" y="138988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7735824" y="137160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 요약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7735824" y="162763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긍정·부정 Top3 영역과 주관식 경향, AI Executive Summary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7260336" y="221284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7260336" y="221284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7735824" y="219456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카테고리별 결과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7735824" y="245059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14개 영역을 대분류 기준 좌우 분할로 동시 제시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7260336" y="303580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7260336" y="30358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7735824" y="301752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32개 문항 근거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7735824" y="327355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문항 원문을 제목으로, 중분류 필터·정렬 지원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7260336" y="385876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7260336" y="385876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7735824" y="384048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3개년 변화 분석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/>
          <p:nvPr/>
        </p:nvSpPr>
        <p:spPr>
          <a:xfrm>
            <a:off x="7735824" y="409651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긍정/중립/부정을 독립 축으로 확대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7260336" y="468172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5"/>
          <p:cNvSpPr/>
          <p:nvPr/>
        </p:nvSpPr>
        <p:spPr>
          <a:xfrm>
            <a:off x="7260336" y="468172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5"/>
          <p:cNvSpPr/>
          <p:nvPr/>
        </p:nvSpPr>
        <p:spPr>
          <a:xfrm>
            <a:off x="7735824" y="466344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조직 운영 인사이트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/>
          <p:nvPr/>
        </p:nvSpPr>
        <p:spPr>
          <a:xfrm>
            <a:off x="7735824" y="491947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관찰 신호, 대화 주제, 구성원 질문 예시, 챗봇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5"/>
          <p:cNvSpPr/>
          <p:nvPr/>
        </p:nvSpPr>
        <p:spPr>
          <a:xfrm>
            <a:off x="566928" y="5632704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5"/>
          <p:cNvSpPr/>
          <p:nvPr/>
        </p:nvSpPr>
        <p:spPr>
          <a:xfrm>
            <a:off x="859536" y="5797296"/>
            <a:ext cx="10472623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총점·등급·순위</a:t>
            </a:r>
            <a:r>
              <a:rPr lang="en-US" sz="150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는 불포함하되, </a:t>
            </a: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응답 비중(%)과 '어떤 대화를 해볼 수 있는지'만 남긴 것이 이 리포트의 설계 결론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7" name="Google Shape;217;p5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218" name="Google Shape;218;p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219" name="Google Shape;219;p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220" name="Google Shape;220;p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FEATURE 02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6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챗봇 — 질문의 성격에 따라 세 가지 방식으로 응답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566928" y="1408176"/>
            <a:ext cx="3466490" cy="2212848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822960" y="1645920"/>
            <a:ext cx="402336" cy="402336"/>
          </a:xfrm>
          <a:prstGeom prst="roundRect">
            <a:avLst>
              <a:gd fmla="val 22727" name="adj"/>
            </a:avLst>
          </a:prstGeom>
          <a:solidFill>
            <a:srgbClr val="00A9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822960" y="16459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6"/>
          <p:cNvSpPr/>
          <p:nvPr/>
        </p:nvSpPr>
        <p:spPr>
          <a:xfrm>
            <a:off x="1316736" y="1664208"/>
            <a:ext cx="246065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4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로컬 규칙 응답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822960" y="2176272"/>
            <a:ext cx="2954426" cy="329184"/>
          </a:xfrm>
          <a:prstGeom prst="roundRect">
            <a:avLst>
              <a:gd fmla="val 44444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822960" y="2176272"/>
            <a:ext cx="295442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짧은 키워드 조회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/>
          <p:nvPr/>
        </p:nvSpPr>
        <p:spPr>
          <a:xfrm>
            <a:off x="822960" y="2615184"/>
            <a:ext cx="2954426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"가용자원"처럼 영역명만 물으면 DB 집계와 해석 사전으로 카드 즉시 생성 · 외부 호출 없음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4362602" y="1408176"/>
            <a:ext cx="3466490" cy="2212848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4618634" y="1645920"/>
            <a:ext cx="402336" cy="402336"/>
          </a:xfrm>
          <a:prstGeom prst="roundRect">
            <a:avLst>
              <a:gd fmla="val 22727" name="adj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4618634" y="16459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6"/>
          <p:cNvSpPr/>
          <p:nvPr/>
        </p:nvSpPr>
        <p:spPr>
          <a:xfrm>
            <a:off x="5112410" y="1664208"/>
            <a:ext cx="246065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4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근거 LLM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6"/>
          <p:cNvSpPr/>
          <p:nvPr/>
        </p:nvSpPr>
        <p:spPr>
          <a:xfrm>
            <a:off x="4618634" y="2176272"/>
            <a:ext cx="2954426" cy="329184"/>
          </a:xfrm>
          <a:prstGeom prst="roundRect">
            <a:avLst>
              <a:gd fmla="val 44444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6"/>
          <p:cNvSpPr/>
          <p:nvPr/>
        </p:nvSpPr>
        <p:spPr>
          <a:xfrm>
            <a:off x="4618634" y="2176272"/>
            <a:ext cx="295442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문장형 후속 질문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6"/>
          <p:cNvSpPr/>
          <p:nvPr/>
        </p:nvSpPr>
        <p:spPr>
          <a:xfrm>
            <a:off x="4618634" y="2615184"/>
            <a:ext cx="2954426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"한정된 자원을 어떻게 조율할까?" 형태는 그 부서의 실제 수치를 컨텍스트로 넘겨 LLM이 직접 응답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6"/>
          <p:cNvSpPr/>
          <p:nvPr/>
        </p:nvSpPr>
        <p:spPr>
          <a:xfrm>
            <a:off x="8158277" y="1408176"/>
            <a:ext cx="3466490" cy="2212848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6"/>
          <p:cNvSpPr/>
          <p:nvPr/>
        </p:nvSpPr>
        <p:spPr>
          <a:xfrm>
            <a:off x="8414309" y="1645920"/>
            <a:ext cx="402336" cy="402336"/>
          </a:xfrm>
          <a:prstGeom prst="roundRect">
            <a:avLst>
              <a:gd fmla="val 22727" name="adj"/>
            </a:avLst>
          </a:prstGeom>
          <a:solidFill>
            <a:srgbClr val="E891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6"/>
          <p:cNvSpPr/>
          <p:nvPr/>
        </p:nvSpPr>
        <p:spPr>
          <a:xfrm>
            <a:off x="8414309" y="16459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6"/>
          <p:cNvSpPr/>
          <p:nvPr/>
        </p:nvSpPr>
        <p:spPr>
          <a:xfrm>
            <a:off x="8908085" y="1664208"/>
            <a:ext cx="246065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4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웹검색 기반 답변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/>
          <p:nvPr/>
        </p:nvSpPr>
        <p:spPr>
          <a:xfrm>
            <a:off x="8414309" y="2176272"/>
            <a:ext cx="2954426" cy="329184"/>
          </a:xfrm>
          <a:prstGeom prst="roundRect">
            <a:avLst>
              <a:gd fmla="val 44444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6"/>
          <p:cNvSpPr/>
          <p:nvPr/>
        </p:nvSpPr>
        <p:spPr>
          <a:xfrm>
            <a:off x="8414309" y="2176272"/>
            <a:ext cx="295442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진단과 무관한 일반 질문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6"/>
          <p:cNvSpPr/>
          <p:nvPr/>
        </p:nvSpPr>
        <p:spPr>
          <a:xfrm>
            <a:off x="8414309" y="2615184"/>
            <a:ext cx="2954426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리더십 일반론은 Tavily 검색 결과를 근거로 요약하고 출처 링크를 함께 제시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6"/>
          <p:cNvSpPr/>
          <p:nvPr/>
        </p:nvSpPr>
        <p:spPr>
          <a:xfrm>
            <a:off x="566928" y="3803904"/>
            <a:ext cx="5120640" cy="1920240"/>
          </a:xfrm>
          <a:prstGeom prst="roundRect">
            <a:avLst>
              <a:gd fmla="val 3810" name="adj"/>
            </a:avLst>
          </a:prstGeom>
          <a:solidFill>
            <a:srgbClr val="FDEEF0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6"/>
          <p:cNvSpPr/>
          <p:nvPr/>
        </p:nvSpPr>
        <p:spPr>
          <a:xfrm>
            <a:off x="841248" y="3968496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4B5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C94B5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추가 장치 — 개인 특정 요청 차단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6"/>
          <p:cNvSpPr/>
          <p:nvPr/>
        </p:nvSpPr>
        <p:spPr>
          <a:xfrm>
            <a:off x="841248" y="4297680"/>
            <a:ext cx="4572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"부정 응답한 직</a:t>
            </a:r>
            <a:r>
              <a:rPr lang="en-US" sz="120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급은 어느 계층이야?</a:t>
            </a:r>
            <a:r>
              <a:rPr b="0" i="0" lang="en-US" sz="12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 같은 요청은 세 갈래 어디로도 보내지 않고 즉시 거절 · 데이터가 익명 집계라 특정이 불가능함을 안내하고, 원인 상황을 보는 관점으로 전환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:\Users\admin\Desktop\AI 활용 전문가\프로젝트과제\Org_health_diag\docs\shots\06_chatbot.png" id="253" name="Google Shape;25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0176" y="3803904"/>
            <a:ext cx="5641848" cy="233172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4" name="Google Shape;254;p6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255" name="Google Shape;255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256" name="Google Shape;256;p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257" name="Google Shape;257;p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7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FEATURE 03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관리자 화면 — 별도 분리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:\Users\admin\Desktop\AI 활용 전문가\프로젝트과제\Org_health_diag\docs\shots\08_admin_compare.png" id="266" name="Google Shape;26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6928" y="1389888"/>
            <a:ext cx="6766560" cy="4288536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7"/>
          <p:cNvSpPr/>
          <p:nvPr/>
        </p:nvSpPr>
        <p:spPr>
          <a:xfrm>
            <a:off x="566928" y="1389888"/>
            <a:ext cx="6766560" cy="4288536"/>
          </a:xfrm>
          <a:prstGeom prst="roundRect">
            <a:avLst>
              <a:gd fmla="val 853" name="adj"/>
            </a:avLst>
          </a:prstGeom>
          <a:noFill/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7626096" y="138988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7"/>
          <p:cNvSpPr/>
          <p:nvPr/>
        </p:nvSpPr>
        <p:spPr>
          <a:xfrm>
            <a:off x="7626096" y="138988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7"/>
          <p:cNvSpPr/>
          <p:nvPr/>
        </p:nvSpPr>
        <p:spPr>
          <a:xfrm>
            <a:off x="8101584" y="137160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Raw Data 업로드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7"/>
          <p:cNvSpPr/>
          <p:nvPr/>
        </p:nvSpPr>
        <p:spPr>
          <a:xfrm>
            <a:off x="8101584" y="164592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 업로드 시 검증 후 DB 전체 교체, 실패 시 기존 데이터 유지 · 기본 더미 데이터 복원도 지원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7"/>
          <p:cNvSpPr/>
          <p:nvPr/>
        </p:nvSpPr>
        <p:spPr>
          <a:xfrm>
            <a:off x="7626096" y="248716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7"/>
          <p:cNvSpPr/>
          <p:nvPr/>
        </p:nvSpPr>
        <p:spPr>
          <a:xfrm>
            <a:off x="7626096" y="248716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7"/>
          <p:cNvSpPr/>
          <p:nvPr/>
        </p:nvSpPr>
        <p:spPr>
          <a:xfrm>
            <a:off x="8101584" y="246888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부서별 결과 비교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8101584" y="274320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전사 평균 대비 ±3.0%p 기준으로 우수/관심 필요 구분 · 점수·등급은 여기서도 미사용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7"/>
          <p:cNvSpPr/>
          <p:nvPr/>
        </p:nvSpPr>
        <p:spPr>
          <a:xfrm>
            <a:off x="7626096" y="358444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7"/>
          <p:cNvSpPr/>
          <p:nvPr/>
        </p:nvSpPr>
        <p:spPr>
          <a:xfrm>
            <a:off x="7626096" y="358444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7"/>
          <p:cNvSpPr/>
          <p:nvPr/>
        </p:nvSpPr>
        <p:spPr>
          <a:xfrm>
            <a:off x="8101584" y="356616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연도별 변화 추이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8101584" y="384048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부서별 긍정 비중을 한 차트에 겹쳐 전사 흐름 파악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7626096" y="468172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7"/>
          <p:cNvSpPr/>
          <p:nvPr/>
        </p:nvSpPr>
        <p:spPr>
          <a:xfrm>
            <a:off x="7626096" y="468172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7"/>
          <p:cNvSpPr/>
          <p:nvPr/>
        </p:nvSpPr>
        <p:spPr>
          <a:xfrm>
            <a:off x="8101584" y="466344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접근 이력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8101584" y="493776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로그인·챗봇·다운로드 이력 기록으로 </a:t>
            </a:r>
            <a:r>
              <a:rPr lang="en-US" sz="1250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부서장의</a:t>
            </a:r>
            <a:br>
              <a:rPr lang="en-US" sz="1250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sz="1250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 결과 활용 여부 확인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7"/>
          <p:cNvSpPr/>
          <p:nvPr/>
        </p:nvSpPr>
        <p:spPr>
          <a:xfrm>
            <a:off x="566928" y="5870448"/>
            <a:ext cx="11057839" cy="566928"/>
          </a:xfrm>
          <a:prstGeom prst="roundRect">
            <a:avLst>
              <a:gd fmla="val 1290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859536" y="5961888"/>
            <a:ext cx="104726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데이터라도 열람자에 따라 허용 범위를 다르게 설계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6" name="Google Shape;286;p7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287" name="Google Shape;287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288" name="Google Shape;288;p7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289" name="Google Shape;289;p7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DETAIL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원칙·비교 기준·확장성을 코드 레벨에서 고정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8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566928" y="1408176"/>
            <a:ext cx="3466490" cy="4114800"/>
          </a:xfrm>
          <a:prstGeom prst="roundRect">
            <a:avLst>
              <a:gd fmla="val 2110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8"/>
          <p:cNvSpPr/>
          <p:nvPr/>
        </p:nvSpPr>
        <p:spPr>
          <a:xfrm>
            <a:off x="822960" y="1862397"/>
            <a:ext cx="384000" cy="384000"/>
          </a:xfrm>
          <a:prstGeom prst="roundRect">
            <a:avLst>
              <a:gd fmla="val 2381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8"/>
          <p:cNvSpPr/>
          <p:nvPr/>
        </p:nvSpPr>
        <p:spPr>
          <a:xfrm>
            <a:off x="822960" y="1862397"/>
            <a:ext cx="3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/>
          <p:nvPr/>
        </p:nvSpPr>
        <p:spPr>
          <a:xfrm>
            <a:off x="1298400" y="1780150"/>
            <a:ext cx="2478900" cy="76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원칙을 문서가 아니라 코드로 강제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8"/>
          <p:cNvSpPr/>
          <p:nvPr/>
        </p:nvSpPr>
        <p:spPr>
          <a:xfrm>
            <a:off x="822960" y="2988156"/>
            <a:ext cx="2954400" cy="20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점수·등급·순위 필드 미생성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응답 10명 미만 조직 리포트 차단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주관식은 빈도 Top3만 집계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14개 영역 해석 문장 사전 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 특정·징계 요청 응답 거부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로그인·챗봇·다운로드 로깅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8"/>
          <p:cNvSpPr/>
          <p:nvPr/>
        </p:nvSpPr>
        <p:spPr>
          <a:xfrm>
            <a:off x="4362602" y="1408176"/>
            <a:ext cx="3466490" cy="4114800"/>
          </a:xfrm>
          <a:prstGeom prst="roundRect">
            <a:avLst>
              <a:gd fmla="val 2110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8"/>
          <p:cNvSpPr/>
          <p:nvPr/>
        </p:nvSpPr>
        <p:spPr>
          <a:xfrm>
            <a:off x="4618634" y="1862397"/>
            <a:ext cx="384000" cy="384000"/>
          </a:xfrm>
          <a:prstGeom prst="roundRect">
            <a:avLst>
              <a:gd fmla="val 2381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4618634" y="1862397"/>
            <a:ext cx="3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5132974" y="1664700"/>
            <a:ext cx="2478900" cy="76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지침</a:t>
            </a:r>
            <a:r>
              <a:rPr b="1" lang="en-US" sz="1600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기반 </a:t>
            </a: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해석 로직 설계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4618634" y="2988156"/>
            <a:ext cx="2954400" cy="20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</a:t>
            </a: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지침 : "부서 간 비교 지양"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[</a:t>
            </a: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BEFORE]  전사 평균 대비 +12.5%p</a:t>
            </a: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</a:t>
            </a: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AFTER] 대분류 내 타 영역 대비 -14.9%p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</a:t>
            </a: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비교 대상이 부서 내부에 한정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8158277" y="1408176"/>
            <a:ext cx="3466490" cy="4114800"/>
          </a:xfrm>
          <a:prstGeom prst="roundRect">
            <a:avLst>
              <a:gd fmla="val 2110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8414309" y="1862397"/>
            <a:ext cx="384000" cy="384000"/>
          </a:xfrm>
          <a:prstGeom prst="roundRect">
            <a:avLst>
              <a:gd fmla="val 2381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8414309" y="1862397"/>
            <a:ext cx="3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8971835" y="1780152"/>
            <a:ext cx="2739300" cy="76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내년에 코드를 열지 않아도 되는 </a:t>
            </a:r>
            <a:r>
              <a:rPr b="1" lang="en-US" sz="1600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일반화 </a:t>
            </a: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구조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8414309" y="2988156"/>
            <a:ext cx="2954400" cy="20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 하드코딩 제거, 시트명에서 4자리 연도 자동 인식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기준 연도는 DB 적재 최신 연도를 매번 조회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2027 시트를 넣은 4개년 파일로 전 화면 자동 확장 실증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566928" y="5687568"/>
            <a:ext cx="11057839" cy="694944"/>
          </a:xfrm>
          <a:prstGeom prst="roundRect">
            <a:avLst>
              <a:gd fmla="val 1052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859536" y="5833872"/>
            <a:ext cx="10472623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항목 모두 문서가 아닌 코드·스키마 레벨에서 고정 </a:t>
            </a:r>
            <a:r>
              <a:rPr lang="en-US" sz="150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 구조가 굳은 뒤에는 되돌리기 어렵다는 판단에 따라 선행 처리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5" name="Google Shape;315;p8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316" name="Google Shape;316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317" name="Google Shape;317;p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318" name="Google Shape;318;p8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9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TECH STACK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프로토타입에서 운영형 웹앱으로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/>
          <p:nvPr/>
        </p:nvSpPr>
        <p:spPr>
          <a:xfrm>
            <a:off x="566928" y="1408176"/>
            <a:ext cx="3466490" cy="4480560"/>
          </a:xfrm>
          <a:prstGeom prst="roundRect">
            <a:avLst>
              <a:gd fmla="val 228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841248" y="1737360"/>
            <a:ext cx="29178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841248" y="2084831"/>
            <a:ext cx="291785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8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Streamlit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587874" y="2788925"/>
            <a:ext cx="3384900" cy="292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30734" lvl="0" marL="27432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Python 단일 파일로 화면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3073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Plotly 차트 · st.session_state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3073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 직접 로드 + 캐시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10058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문구와 화면 구성 검증에 사용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4362602" y="1408176"/>
            <a:ext cx="3466490" cy="4480560"/>
          </a:xfrm>
          <a:prstGeom prst="roundRect">
            <a:avLst>
              <a:gd fmla="val 228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4636922" y="1737360"/>
            <a:ext cx="29178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운영형 웹앱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4636922" y="2084831"/>
            <a:ext cx="291785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8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FastAPI + SQLite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4383549" y="2788925"/>
            <a:ext cx="3283200" cy="292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30734" lvl="0" marL="27432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 렌더링 · 서명 쿠키 세션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3073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차트 기능을 앱 안에 탑재하여 </a:t>
            </a:r>
            <a:b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오프라인에서도 그래프 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3073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SQLite 테이블 · 인덱스 기반 집계</a:t>
            </a:r>
            <a:b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업로드·세션·로그까지 지원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9"/>
          <p:cNvSpPr/>
          <p:nvPr/>
        </p:nvSpPr>
        <p:spPr>
          <a:xfrm>
            <a:off x="8158277" y="1408176"/>
            <a:ext cx="3466490" cy="4480560"/>
          </a:xfrm>
          <a:prstGeom prst="roundRect">
            <a:avLst>
              <a:gd fmla="val 228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8432597" y="1737360"/>
            <a:ext cx="29178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0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계층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8432597" y="2084831"/>
            <a:ext cx="291785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8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OpenAI + Tavily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9"/>
          <p:cNvSpPr/>
          <p:nvPr/>
        </p:nvSpPr>
        <p:spPr>
          <a:xfrm>
            <a:off x="8282206" y="2788925"/>
            <a:ext cx="3192300" cy="292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30734" lvl="0" marL="27432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근거 답변</a:t>
            </a:r>
            <a:b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(진단 컨텍스트 주입)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3073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웹검색 기반 일반 자문</a:t>
            </a:r>
            <a:b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+ 출처 표기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3073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 요약 </a:t>
            </a: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Subagent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9" name="Google Shape;339;p9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340" name="Google Shape;340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341" name="Google Shape;341;p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342" name="Google Shape;342;p9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NEXT STEPS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지금은 데모, 운영으로 가려면 남은 것들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4224528" y="1426464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현재 (데모)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/>
          <p:nvPr/>
        </p:nvSpPr>
        <p:spPr>
          <a:xfrm>
            <a:off x="7790688" y="1426464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운영 전환 시 필요한 것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0"/>
          <p:cNvSpPr/>
          <p:nvPr/>
        </p:nvSpPr>
        <p:spPr>
          <a:xfrm>
            <a:off x="566928" y="1773936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0"/>
          <p:cNvSpPr/>
          <p:nvPr/>
        </p:nvSpPr>
        <p:spPr>
          <a:xfrm>
            <a:off x="841250" y="1993400"/>
            <a:ext cx="2456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endParaRPr b="1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4224528" y="2011680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조직 선택 후 생년월일 입력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0"/>
          <p:cNvSpPr/>
          <p:nvPr/>
        </p:nvSpPr>
        <p:spPr>
          <a:xfrm>
            <a:off x="7078773" y="2103125"/>
            <a:ext cx="433800" cy="109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0"/>
          <p:cNvSpPr/>
          <p:nvPr/>
        </p:nvSpPr>
        <p:spPr>
          <a:xfrm>
            <a:off x="7790688" y="2011680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사내 시스템 계정으로 바로 로그인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/>
          <p:nvPr/>
        </p:nvSpPr>
        <p:spPr>
          <a:xfrm>
            <a:off x="566928" y="2633472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0"/>
          <p:cNvSpPr/>
          <p:nvPr/>
        </p:nvSpPr>
        <p:spPr>
          <a:xfrm>
            <a:off x="841250" y="2852933"/>
            <a:ext cx="2456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 데이터</a:t>
            </a:r>
            <a:endParaRPr b="1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0"/>
          <p:cNvSpPr/>
          <p:nvPr/>
        </p:nvSpPr>
        <p:spPr>
          <a:xfrm>
            <a:off x="4224528" y="2871216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시연용 가상 데이터 6개 부서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7078773" y="2962662"/>
            <a:ext cx="433800" cy="109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7790688" y="2871216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설문 결과 자동 연동 · 조직 개편 반영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/>
          <p:nvPr/>
        </p:nvSpPr>
        <p:spPr>
          <a:xfrm>
            <a:off x="566928" y="3493008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0"/>
          <p:cNvSpPr/>
          <p:nvPr/>
        </p:nvSpPr>
        <p:spPr>
          <a:xfrm>
            <a:off x="841250" y="3712465"/>
            <a:ext cx="2456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 보호</a:t>
            </a:r>
            <a:endParaRPr b="1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4224528" y="3730752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수준의 기본 보호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0"/>
          <p:cNvSpPr/>
          <p:nvPr/>
        </p:nvSpPr>
        <p:spPr>
          <a:xfrm>
            <a:off x="7078773" y="3822200"/>
            <a:ext cx="433800" cy="109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0"/>
          <p:cNvSpPr/>
          <p:nvPr/>
        </p:nvSpPr>
        <p:spPr>
          <a:xfrm>
            <a:off x="7790688" y="3730752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전사 보안 기준 적용 · 열람 권한 세분화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0"/>
          <p:cNvSpPr/>
          <p:nvPr/>
        </p:nvSpPr>
        <p:spPr>
          <a:xfrm>
            <a:off x="566928" y="4352544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841250" y="4571998"/>
            <a:ext cx="2456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이용</a:t>
            </a:r>
            <a:endParaRPr b="1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0"/>
          <p:cNvSpPr/>
          <p:nvPr/>
        </p:nvSpPr>
        <p:spPr>
          <a:xfrm>
            <a:off x="4224528" y="4590288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질문할 때마다 외부 AI 호출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0"/>
          <p:cNvSpPr/>
          <p:nvPr/>
        </p:nvSpPr>
        <p:spPr>
          <a:xfrm>
            <a:off x="7078773" y="4681737"/>
            <a:ext cx="433800" cy="109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7790688" y="4590288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자주 나오는 답변 재사용으로 비용 관리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0"/>
          <p:cNvSpPr/>
          <p:nvPr/>
        </p:nvSpPr>
        <p:spPr>
          <a:xfrm>
            <a:off x="566928" y="5212080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0"/>
          <p:cNvSpPr/>
          <p:nvPr/>
        </p:nvSpPr>
        <p:spPr>
          <a:xfrm>
            <a:off x="841250" y="5431530"/>
            <a:ext cx="2456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동시 사용</a:t>
            </a:r>
            <a:endParaRPr b="1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0"/>
          <p:cNvSpPr/>
          <p:nvPr/>
        </p:nvSpPr>
        <p:spPr>
          <a:xfrm>
            <a:off x="4224528" y="5449824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1대에서 시연용으로 구동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7078773" y="5541275"/>
            <a:ext cx="433800" cy="109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0"/>
          <p:cNvSpPr/>
          <p:nvPr/>
        </p:nvSpPr>
        <p:spPr>
          <a:xfrm>
            <a:off x="7790688" y="5449824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 부서가 동시에 접속하는 운영 환경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7" name="Google Shape;377;p10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378" name="Google Shape;378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379" name="Google Shape;379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380" name="Google Shape;380;p10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1" name="Google Shape;381;p10"/>
          <p:cNvSpPr/>
          <p:nvPr/>
        </p:nvSpPr>
        <p:spPr>
          <a:xfrm>
            <a:off x="11076127" y="6355080"/>
            <a:ext cx="548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lang="en-US" sz="1000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f99736c1cc_0_128"/>
          <p:cNvSpPr txBox="1"/>
          <p:nvPr>
            <p:ph type="title"/>
          </p:nvPr>
        </p:nvSpPr>
        <p:spPr>
          <a:xfrm>
            <a:off x="838091" y="2766218"/>
            <a:ext cx="10515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700"/>
              <a:buFont typeface="Arial"/>
              <a:buNone/>
            </a:pPr>
            <a:r>
              <a:rPr b="1" lang="en-US" sz="5700">
                <a:sym typeface="Arial"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감사합니다.</a:t>
            </a:r>
            <a:endParaRPr b="1" sz="57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디자인 사용자 지정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2026-08-05T05:14:44Z</dcterms:created>
  <dc:creator>AI활용전문가 과정</dc:creator>
</cp:coreProperties>
</file>